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  <p:sldMasterId id="2147483668" r:id="rId4"/>
    <p:sldMasterId id="2147483670" r:id="rId5"/>
    <p:sldMasterId id="2147483673" r:id="rId6"/>
    <p:sldMasterId id="2147483686" r:id="rId7"/>
  </p:sldMasterIdLst>
  <p:notesMasterIdLst>
    <p:notesMasterId r:id="rId9"/>
  </p:notesMasterIdLst>
  <p:handoutMasterIdLst>
    <p:handoutMasterId r:id="rId22"/>
  </p:handoutMasterIdLst>
  <p:sldIdLst>
    <p:sldId id="1026" r:id="rId8"/>
    <p:sldId id="1027" r:id="rId10"/>
    <p:sldId id="1028" r:id="rId11"/>
    <p:sldId id="1014" r:id="rId12"/>
    <p:sldId id="1029" r:id="rId13"/>
    <p:sldId id="984" r:id="rId14"/>
    <p:sldId id="986" r:id="rId15"/>
    <p:sldId id="1030" r:id="rId16"/>
    <p:sldId id="998" r:id="rId17"/>
    <p:sldId id="979" r:id="rId18"/>
    <p:sldId id="1031" r:id="rId19"/>
    <p:sldId id="977" r:id="rId20"/>
    <p:sldId id="1032" r:id="rId21"/>
  </p:sldIdLst>
  <p:sldSz cx="11520170" cy="6480175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31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863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295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72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159635" algn="l" defTabSz="8636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591435" algn="l" defTabSz="8636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023235" algn="l" defTabSz="8636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455035" algn="l" defTabSz="8636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 userDrawn="1">
          <p15:clr>
            <a:srgbClr val="A4A3A4"/>
          </p15:clr>
        </p15:guide>
        <p15:guide id="2" pos="36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97A6"/>
    <a:srgbClr val="D53E25"/>
    <a:srgbClr val="ECA11A"/>
    <a:srgbClr val="2C99C0"/>
    <a:srgbClr val="294A5A"/>
    <a:srgbClr val="99CC39"/>
    <a:srgbClr val="ED5A00"/>
    <a:srgbClr val="00AAA2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2" autoAdjust="0"/>
    <p:restoredTop sz="49635" autoAdjust="0"/>
  </p:normalViewPr>
  <p:slideViewPr>
    <p:cSldViewPr snapToObjects="1" showGuides="1">
      <p:cViewPr varScale="1">
        <p:scale>
          <a:sx n="108" d="100"/>
          <a:sy n="108" d="100"/>
        </p:scale>
        <p:origin x="108" y="372"/>
      </p:cViewPr>
      <p:guideLst>
        <p:guide orient="horz" pos="2024"/>
        <p:guide pos="36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58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35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31800" algn="l" rtl="0" eaLnBrk="0" fontAlgn="base" hangingPunct="0">
      <a:spcBef>
        <a:spcPct val="30000"/>
      </a:spcBef>
      <a:spcAft>
        <a:spcPct val="0"/>
      </a:spcAft>
      <a:defRPr sz="1135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863600" algn="l" rtl="0" eaLnBrk="0" fontAlgn="base" hangingPunct="0">
      <a:spcBef>
        <a:spcPct val="30000"/>
      </a:spcBef>
      <a:spcAft>
        <a:spcPct val="0"/>
      </a:spcAft>
      <a:defRPr sz="1135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295400" algn="l" rtl="0" eaLnBrk="0" fontAlgn="base" hangingPunct="0">
      <a:spcBef>
        <a:spcPct val="30000"/>
      </a:spcBef>
      <a:spcAft>
        <a:spcPct val="0"/>
      </a:spcAft>
      <a:defRPr sz="1135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727200" algn="l" rtl="0" eaLnBrk="0" fontAlgn="base" hangingPunct="0">
      <a:spcBef>
        <a:spcPct val="30000"/>
      </a:spcBef>
      <a:spcAft>
        <a:spcPct val="0"/>
      </a:spcAft>
      <a:defRPr sz="1135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159635" algn="l" defTabSz="863600" rtl="0" eaLnBrk="1" latinLnBrk="0" hangingPunct="1">
      <a:defRPr sz="1135" kern="1200">
        <a:solidFill>
          <a:schemeClr val="tx1"/>
        </a:solidFill>
        <a:latin typeface="+mn-lt"/>
        <a:ea typeface="+mn-ea"/>
        <a:cs typeface="+mn-cs"/>
      </a:defRPr>
    </a:lvl6pPr>
    <a:lvl7pPr marL="2591435" algn="l" defTabSz="863600" rtl="0" eaLnBrk="1" latinLnBrk="0" hangingPunct="1">
      <a:defRPr sz="1135" kern="1200">
        <a:solidFill>
          <a:schemeClr val="tx1"/>
        </a:solidFill>
        <a:latin typeface="+mn-lt"/>
        <a:ea typeface="+mn-ea"/>
        <a:cs typeface="+mn-cs"/>
      </a:defRPr>
    </a:lvl7pPr>
    <a:lvl8pPr marL="3023235" algn="l" defTabSz="863600" rtl="0" eaLnBrk="1" latinLnBrk="0" hangingPunct="1">
      <a:defRPr sz="1135" kern="1200">
        <a:solidFill>
          <a:schemeClr val="tx1"/>
        </a:solidFill>
        <a:latin typeface="+mn-lt"/>
        <a:ea typeface="+mn-ea"/>
        <a:cs typeface="+mn-cs"/>
      </a:defRPr>
    </a:lvl8pPr>
    <a:lvl9pPr marL="3455035" algn="l" defTabSz="863600" rtl="0" eaLnBrk="1" latinLnBrk="0" hangingPunct="1">
      <a:defRPr sz="11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7D52DC-2AC0-40EB-AE3E-9EAE589A4496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9846" y="858023"/>
            <a:ext cx="10013535" cy="60001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9846" y="1512041"/>
            <a:ext cx="10013535" cy="427661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058" y="177105"/>
            <a:ext cx="1999304" cy="600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84" y="4164113"/>
            <a:ext cx="9791590" cy="1287035"/>
          </a:xfrm>
        </p:spPr>
        <p:txBody>
          <a:bodyPr anchor="t"/>
          <a:lstStyle>
            <a:lvl1pPr algn="l">
              <a:defRPr sz="378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84" y="2746575"/>
            <a:ext cx="9791590" cy="1417538"/>
          </a:xfrm>
        </p:spPr>
        <p:txBody>
          <a:bodyPr anchor="b"/>
          <a:lstStyle>
            <a:lvl1pPr marL="0" indent="0">
              <a:buNone/>
              <a:defRPr sz="1890">
                <a:solidFill>
                  <a:srgbClr val="F8F8F8"/>
                </a:solidFill>
              </a:defRPr>
            </a:lvl1pPr>
            <a:lvl2pPr marL="431800" indent="0">
              <a:buNone/>
              <a:defRPr sz="1700"/>
            </a:lvl2pPr>
            <a:lvl3pPr marL="863600" indent="0">
              <a:buNone/>
              <a:defRPr sz="1510"/>
            </a:lvl3pPr>
            <a:lvl4pPr marL="1295400" indent="0">
              <a:buNone/>
              <a:defRPr sz="1320"/>
            </a:lvl4pPr>
            <a:lvl5pPr marL="1727200" indent="0">
              <a:buNone/>
              <a:defRPr sz="1320"/>
            </a:lvl5pPr>
            <a:lvl6pPr marL="2159635" indent="0">
              <a:buNone/>
              <a:defRPr sz="1320"/>
            </a:lvl6pPr>
            <a:lvl7pPr marL="2591435" indent="0">
              <a:buNone/>
              <a:defRPr sz="1320"/>
            </a:lvl7pPr>
            <a:lvl8pPr marL="3023235" indent="0">
              <a:buNone/>
              <a:defRPr sz="1320"/>
            </a:lvl8pPr>
            <a:lvl9pPr marL="3455035" indent="0">
              <a:buNone/>
              <a:defRPr sz="13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5800" y="1512041"/>
            <a:ext cx="5111720" cy="4276616"/>
          </a:xfrm>
        </p:spPr>
        <p:txBody>
          <a:bodyPr/>
          <a:lstStyle>
            <a:lvl1pPr>
              <a:defRPr sz="2645"/>
            </a:lvl1pPr>
            <a:lvl2pPr>
              <a:defRPr sz="2265"/>
            </a:lvl2pPr>
            <a:lvl3pPr>
              <a:defRPr sz="189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1470" y="1512041"/>
            <a:ext cx="5113219" cy="4276616"/>
          </a:xfrm>
        </p:spPr>
        <p:txBody>
          <a:bodyPr/>
          <a:lstStyle>
            <a:lvl1pPr>
              <a:defRPr sz="2645"/>
            </a:lvl1pPr>
            <a:lvl2pPr>
              <a:defRPr sz="2265"/>
            </a:lvl2pPr>
            <a:lvl3pPr>
              <a:defRPr sz="189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5800" y="259508"/>
            <a:ext cx="10368889" cy="108002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5800" y="1450540"/>
            <a:ext cx="5090727" cy="604516"/>
          </a:xfrm>
        </p:spPr>
        <p:txBody>
          <a:bodyPr anchor="b"/>
          <a:lstStyle>
            <a:lvl1pPr marL="0" indent="0">
              <a:buNone/>
              <a:defRPr sz="2265" b="1"/>
            </a:lvl1pPr>
            <a:lvl2pPr marL="431800" indent="0">
              <a:buNone/>
              <a:defRPr sz="1890" b="1"/>
            </a:lvl2pPr>
            <a:lvl3pPr marL="863600" indent="0">
              <a:buNone/>
              <a:defRPr sz="1700" b="1"/>
            </a:lvl3pPr>
            <a:lvl4pPr marL="1295400" indent="0">
              <a:buNone/>
              <a:defRPr sz="1510" b="1"/>
            </a:lvl4pPr>
            <a:lvl5pPr marL="1727200" indent="0">
              <a:buNone/>
              <a:defRPr sz="1510" b="1"/>
            </a:lvl5pPr>
            <a:lvl6pPr marL="2159635" indent="0">
              <a:buNone/>
              <a:defRPr sz="1510" b="1"/>
            </a:lvl6pPr>
            <a:lvl7pPr marL="2591435" indent="0">
              <a:buNone/>
              <a:defRPr sz="1510" b="1"/>
            </a:lvl7pPr>
            <a:lvl8pPr marL="3023235" indent="0">
              <a:buNone/>
              <a:defRPr sz="1510" b="1"/>
            </a:lvl8pPr>
            <a:lvl9pPr marL="345503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5800" y="2055056"/>
            <a:ext cx="5090727" cy="3733601"/>
          </a:xfrm>
        </p:spPr>
        <p:txBody>
          <a:bodyPr/>
          <a:lstStyle>
            <a:lvl1pPr>
              <a:defRPr sz="2265"/>
            </a:lvl1pPr>
            <a:lvl2pPr>
              <a:defRPr sz="1890"/>
            </a:lvl2pPr>
            <a:lvl3pPr>
              <a:defRPr sz="1700"/>
            </a:lvl3pPr>
            <a:lvl4pPr>
              <a:defRPr sz="1510"/>
            </a:lvl4pPr>
            <a:lvl5pPr>
              <a:defRPr sz="1510"/>
            </a:lvl5pPr>
            <a:lvl6pPr>
              <a:defRPr sz="1510"/>
            </a:lvl6pPr>
            <a:lvl7pPr>
              <a:defRPr sz="1510"/>
            </a:lvl7pPr>
            <a:lvl8pPr>
              <a:defRPr sz="1510"/>
            </a:lvl8pPr>
            <a:lvl9pPr>
              <a:defRPr sz="15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2462" y="1450540"/>
            <a:ext cx="5092226" cy="604516"/>
          </a:xfrm>
        </p:spPr>
        <p:txBody>
          <a:bodyPr anchor="b"/>
          <a:lstStyle>
            <a:lvl1pPr marL="0" indent="0">
              <a:buNone/>
              <a:defRPr sz="2265" b="1"/>
            </a:lvl1pPr>
            <a:lvl2pPr marL="431800" indent="0">
              <a:buNone/>
              <a:defRPr sz="1890" b="1"/>
            </a:lvl2pPr>
            <a:lvl3pPr marL="863600" indent="0">
              <a:buNone/>
              <a:defRPr sz="1700" b="1"/>
            </a:lvl3pPr>
            <a:lvl4pPr marL="1295400" indent="0">
              <a:buNone/>
              <a:defRPr sz="1510" b="1"/>
            </a:lvl4pPr>
            <a:lvl5pPr marL="1727200" indent="0">
              <a:buNone/>
              <a:defRPr sz="1510" b="1"/>
            </a:lvl5pPr>
            <a:lvl6pPr marL="2159635" indent="0">
              <a:buNone/>
              <a:defRPr sz="1510" b="1"/>
            </a:lvl6pPr>
            <a:lvl7pPr marL="2591435" indent="0">
              <a:buNone/>
              <a:defRPr sz="1510" b="1"/>
            </a:lvl7pPr>
            <a:lvl8pPr marL="3023235" indent="0">
              <a:buNone/>
              <a:defRPr sz="1510" b="1"/>
            </a:lvl8pPr>
            <a:lvl9pPr marL="345503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2462" y="2055056"/>
            <a:ext cx="5092226" cy="3733601"/>
          </a:xfrm>
        </p:spPr>
        <p:txBody>
          <a:bodyPr/>
          <a:lstStyle>
            <a:lvl1pPr>
              <a:defRPr sz="2265"/>
            </a:lvl1pPr>
            <a:lvl2pPr>
              <a:defRPr sz="1890"/>
            </a:lvl2pPr>
            <a:lvl3pPr>
              <a:defRPr sz="1700"/>
            </a:lvl3pPr>
            <a:lvl4pPr>
              <a:defRPr sz="1510"/>
            </a:lvl4pPr>
            <a:lvl5pPr>
              <a:defRPr sz="1510"/>
            </a:lvl5pPr>
            <a:lvl6pPr>
              <a:defRPr sz="1510"/>
            </a:lvl6pPr>
            <a:lvl7pPr>
              <a:defRPr sz="1510"/>
            </a:lvl7pPr>
            <a:lvl8pPr>
              <a:defRPr sz="1510"/>
            </a:lvl8pPr>
            <a:lvl9pPr>
              <a:defRPr sz="15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5799" y="258007"/>
            <a:ext cx="3790680" cy="1098030"/>
          </a:xfrm>
        </p:spPr>
        <p:txBody>
          <a:bodyPr anchor="b"/>
          <a:lstStyle>
            <a:lvl1pPr algn="l">
              <a:defRPr sz="189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432" y="258007"/>
            <a:ext cx="6440257" cy="5530650"/>
          </a:xfrm>
        </p:spPr>
        <p:txBody>
          <a:bodyPr/>
          <a:lstStyle>
            <a:lvl1pPr>
              <a:defRPr sz="3025"/>
            </a:lvl1pPr>
            <a:lvl2pPr>
              <a:defRPr sz="2645"/>
            </a:lvl2pPr>
            <a:lvl3pPr>
              <a:defRPr sz="2265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5799" y="1356037"/>
            <a:ext cx="3790680" cy="4432620"/>
          </a:xfrm>
        </p:spPr>
        <p:txBody>
          <a:bodyPr/>
          <a:lstStyle>
            <a:lvl1pPr marL="0" indent="0">
              <a:buNone/>
              <a:defRPr sz="1320"/>
            </a:lvl1pPr>
            <a:lvl2pPr marL="431800" indent="0">
              <a:buNone/>
              <a:defRPr sz="1135"/>
            </a:lvl2pPr>
            <a:lvl3pPr marL="863600" indent="0">
              <a:buNone/>
              <a:defRPr sz="945"/>
            </a:lvl3pPr>
            <a:lvl4pPr marL="1295400" indent="0">
              <a:buNone/>
              <a:defRPr sz="850"/>
            </a:lvl4pPr>
            <a:lvl5pPr marL="1727200" indent="0">
              <a:buNone/>
              <a:defRPr sz="850"/>
            </a:lvl5pPr>
            <a:lvl6pPr marL="2159635" indent="0">
              <a:buNone/>
              <a:defRPr sz="850"/>
            </a:lvl6pPr>
            <a:lvl7pPr marL="2591435" indent="0">
              <a:buNone/>
              <a:defRPr sz="850"/>
            </a:lvl7pPr>
            <a:lvl8pPr marL="3023235" indent="0">
              <a:buNone/>
              <a:defRPr sz="850"/>
            </a:lvl8pPr>
            <a:lvl9pPr marL="3455035" indent="0">
              <a:buNone/>
              <a:defRPr sz="8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214" y="4536122"/>
            <a:ext cx="6912592" cy="535515"/>
          </a:xfrm>
        </p:spPr>
        <p:txBody>
          <a:bodyPr anchor="b"/>
          <a:lstStyle>
            <a:lvl1pPr algn="l">
              <a:defRPr sz="189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214" y="579016"/>
            <a:ext cx="6912592" cy="3888105"/>
          </a:xfrm>
        </p:spPr>
        <p:txBody>
          <a:bodyPr/>
          <a:lstStyle>
            <a:lvl1pPr marL="0" indent="0">
              <a:buNone/>
              <a:defRPr sz="3025"/>
            </a:lvl1pPr>
            <a:lvl2pPr marL="431800" indent="0">
              <a:buNone/>
              <a:defRPr sz="2645"/>
            </a:lvl2pPr>
            <a:lvl3pPr marL="863600" indent="0">
              <a:buNone/>
              <a:defRPr sz="2265"/>
            </a:lvl3pPr>
            <a:lvl4pPr marL="1295400" indent="0">
              <a:buNone/>
              <a:defRPr sz="1890"/>
            </a:lvl4pPr>
            <a:lvl5pPr marL="1727200" indent="0">
              <a:buNone/>
              <a:defRPr sz="1890"/>
            </a:lvl5pPr>
            <a:lvl6pPr marL="2159635" indent="0">
              <a:buNone/>
              <a:defRPr sz="1890"/>
            </a:lvl6pPr>
            <a:lvl7pPr marL="2591435" indent="0">
              <a:buNone/>
              <a:defRPr sz="1890"/>
            </a:lvl7pPr>
            <a:lvl8pPr marL="3023235" indent="0">
              <a:buNone/>
              <a:defRPr sz="1890"/>
            </a:lvl8pPr>
            <a:lvl9pPr marL="3455035" indent="0">
              <a:buNone/>
              <a:defRPr sz="18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214" y="5071637"/>
            <a:ext cx="6912592" cy="760520"/>
          </a:xfrm>
        </p:spPr>
        <p:txBody>
          <a:bodyPr/>
          <a:lstStyle>
            <a:lvl1pPr marL="0" indent="0">
              <a:buNone/>
              <a:defRPr sz="1320"/>
            </a:lvl1pPr>
            <a:lvl2pPr marL="431800" indent="0">
              <a:buNone/>
              <a:defRPr sz="1135"/>
            </a:lvl2pPr>
            <a:lvl3pPr marL="863600" indent="0">
              <a:buNone/>
              <a:defRPr sz="945"/>
            </a:lvl3pPr>
            <a:lvl4pPr marL="1295400" indent="0">
              <a:buNone/>
              <a:defRPr sz="850"/>
            </a:lvl4pPr>
            <a:lvl5pPr marL="1727200" indent="0">
              <a:buNone/>
              <a:defRPr sz="850"/>
            </a:lvl5pPr>
            <a:lvl6pPr marL="2159635" indent="0">
              <a:buNone/>
              <a:defRPr sz="850"/>
            </a:lvl6pPr>
            <a:lvl7pPr marL="2591435" indent="0">
              <a:buNone/>
              <a:defRPr sz="850"/>
            </a:lvl7pPr>
            <a:lvl8pPr marL="3023235" indent="0">
              <a:buNone/>
              <a:defRPr sz="850"/>
            </a:lvl8pPr>
            <a:lvl9pPr marL="3455035" indent="0">
              <a:buNone/>
              <a:defRPr sz="8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91" y="858023"/>
            <a:ext cx="2591098" cy="49306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5800" y="858023"/>
            <a:ext cx="7633842" cy="49306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916979" y="2727579"/>
            <a:ext cx="1001556" cy="754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7963017" y="2606305"/>
            <a:ext cx="1035999" cy="79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82762" y="1368018"/>
            <a:ext cx="2846628" cy="224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219730" y="3563313"/>
            <a:ext cx="495066" cy="37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6967343" y="2744244"/>
            <a:ext cx="378915" cy="28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4985178" y="2432333"/>
            <a:ext cx="927297" cy="70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077" y="3029967"/>
            <a:ext cx="1395705" cy="106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55629" y="3256165"/>
            <a:ext cx="1732729" cy="135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337946" y="2575193"/>
            <a:ext cx="1054871" cy="80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502395" y="3425214"/>
            <a:ext cx="493162" cy="37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0630829" y="2234707"/>
            <a:ext cx="493161" cy="37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940525" y="2641861"/>
            <a:ext cx="1603251" cy="135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62746" y="2632337"/>
            <a:ext cx="413190" cy="34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46967" y="3141875"/>
            <a:ext cx="664531" cy="55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26733" y="2749005"/>
            <a:ext cx="340833" cy="28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04658" y="3256164"/>
            <a:ext cx="266574" cy="22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0">
    <p:push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0">
    <p:push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组合 3"/>
          <p:cNvGrpSpPr/>
          <p:nvPr userDrawn="1"/>
        </p:nvGrpSpPr>
        <p:grpSpPr bwMode="auto">
          <a:xfrm flipH="1">
            <a:off x="-1" y="312473"/>
            <a:ext cx="2264242" cy="639017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13" name="矩形 1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-1" y="466528"/>
            <a:ext cx="2262886" cy="315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>
              <a:buFontTx/>
              <a:buNone/>
            </a:pPr>
            <a:r>
              <a:rPr lang="zh-CN" altLang="en-US" sz="151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51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0">
    <p:push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0">
    <p:push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组合 3"/>
          <p:cNvGrpSpPr/>
          <p:nvPr userDrawn="1"/>
        </p:nvGrpSpPr>
        <p:grpSpPr bwMode="auto">
          <a:xfrm flipH="1">
            <a:off x="-1" y="312473"/>
            <a:ext cx="2264242" cy="639017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13" name="矩形 12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文本框 12"/>
          <p:cNvSpPr txBox="1">
            <a:spLocks noChangeArrowheads="1"/>
          </p:cNvSpPr>
          <p:nvPr userDrawn="1"/>
        </p:nvSpPr>
        <p:spPr bwMode="auto">
          <a:xfrm>
            <a:off x="-1" y="466528"/>
            <a:ext cx="2262886" cy="315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>
              <a:buFontTx/>
              <a:buNone/>
            </a:pPr>
            <a:r>
              <a:rPr lang="zh-CN" altLang="en-US" sz="151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51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70"/>
            </a:lvl1pPr>
            <a:lvl2pPr marL="431800" indent="0" algn="ctr">
              <a:buNone/>
              <a:defRPr sz="1890"/>
            </a:lvl2pPr>
            <a:lvl3pPr marL="864235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7835" indent="0" algn="ctr">
              <a:buNone/>
              <a:defRPr sz="1510"/>
            </a:lvl5pPr>
            <a:lvl6pPr marL="2160270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3870" indent="0" algn="ctr">
              <a:buNone/>
              <a:defRPr sz="1510"/>
            </a:lvl8pPr>
            <a:lvl9pPr marL="3456305" indent="0" algn="ctr">
              <a:buNone/>
              <a:defRPr sz="15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1pPr>
            <a:lvl2pPr marL="43180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23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2960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4pPr>
            <a:lvl5pPr marL="17278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6pPr>
            <a:lvl7pPr marL="25920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7pPr>
            <a:lvl8pPr marL="30238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8pPr>
            <a:lvl9pPr marL="345630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组合 3"/>
          <p:cNvGrpSpPr/>
          <p:nvPr userDrawn="1"/>
        </p:nvGrpSpPr>
        <p:grpSpPr bwMode="auto">
          <a:xfrm flipH="1">
            <a:off x="-1" y="312473"/>
            <a:ext cx="2264242" cy="639017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6" name="矩形 5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-1" y="466528"/>
            <a:ext cx="2262886" cy="315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>
              <a:buFontTx/>
              <a:buNone/>
            </a:pPr>
            <a:r>
              <a:rPr lang="zh-CN" altLang="en-US" sz="151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51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5"/>
            </a:lvl1pPr>
            <a:lvl2pPr>
              <a:defRPr sz="2645"/>
            </a:lvl2pPr>
            <a:lvl3pPr>
              <a:defRPr sz="227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0"/>
            </a:lvl1pPr>
            <a:lvl2pPr marL="431800" indent="0">
              <a:buNone/>
              <a:defRPr sz="1325"/>
            </a:lvl2pPr>
            <a:lvl3pPr marL="864235" indent="0">
              <a:buNone/>
              <a:defRPr sz="1135"/>
            </a:lvl3pPr>
            <a:lvl4pPr marL="1296035" indent="0">
              <a:buNone/>
              <a:defRPr sz="945"/>
            </a:lvl4pPr>
            <a:lvl5pPr marL="1727835" indent="0">
              <a:buNone/>
              <a:defRPr sz="945"/>
            </a:lvl5pPr>
            <a:lvl6pPr marL="2160270" indent="0">
              <a:buNone/>
              <a:defRPr sz="945"/>
            </a:lvl6pPr>
            <a:lvl7pPr marL="2592070" indent="0">
              <a:buNone/>
              <a:defRPr sz="945"/>
            </a:lvl7pPr>
            <a:lvl8pPr marL="3023870" indent="0">
              <a:buNone/>
              <a:defRPr sz="945"/>
            </a:lvl8pPr>
            <a:lvl9pPr marL="3456305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5"/>
            </a:lvl1pPr>
            <a:lvl2pPr marL="431800" indent="0">
              <a:buNone/>
              <a:defRPr sz="2645"/>
            </a:lvl2pPr>
            <a:lvl3pPr marL="864235" indent="0">
              <a:buNone/>
              <a:defRPr sz="2270"/>
            </a:lvl3pPr>
            <a:lvl4pPr marL="1296035" indent="0">
              <a:buNone/>
              <a:defRPr sz="1890"/>
            </a:lvl4pPr>
            <a:lvl5pPr marL="1727835" indent="0">
              <a:buNone/>
              <a:defRPr sz="1890"/>
            </a:lvl5pPr>
            <a:lvl6pPr marL="2160270" indent="0">
              <a:buNone/>
              <a:defRPr sz="1890"/>
            </a:lvl6pPr>
            <a:lvl7pPr marL="2592070" indent="0">
              <a:buNone/>
              <a:defRPr sz="1890"/>
            </a:lvl7pPr>
            <a:lvl8pPr marL="3023870" indent="0">
              <a:buNone/>
              <a:defRPr sz="1890"/>
            </a:lvl8pPr>
            <a:lvl9pPr marL="3456305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0"/>
            </a:lvl1pPr>
            <a:lvl2pPr marL="431800" indent="0">
              <a:buNone/>
              <a:defRPr sz="1325"/>
            </a:lvl2pPr>
            <a:lvl3pPr marL="864235" indent="0">
              <a:buNone/>
              <a:defRPr sz="1135"/>
            </a:lvl3pPr>
            <a:lvl4pPr marL="1296035" indent="0">
              <a:buNone/>
              <a:defRPr sz="945"/>
            </a:lvl4pPr>
            <a:lvl5pPr marL="1727835" indent="0">
              <a:buNone/>
              <a:defRPr sz="945"/>
            </a:lvl5pPr>
            <a:lvl6pPr marL="2160270" indent="0">
              <a:buNone/>
              <a:defRPr sz="945"/>
            </a:lvl6pPr>
            <a:lvl7pPr marL="2592070" indent="0">
              <a:buNone/>
              <a:defRPr sz="945"/>
            </a:lvl7pPr>
            <a:lvl8pPr marL="3023870" indent="0">
              <a:buNone/>
              <a:defRPr sz="945"/>
            </a:lvl8pPr>
            <a:lvl9pPr marL="3456305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0">
    <p:push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70"/>
            </a:lvl1pPr>
            <a:lvl2pPr marL="431800" indent="0" algn="ctr">
              <a:buNone/>
              <a:defRPr sz="1890"/>
            </a:lvl2pPr>
            <a:lvl3pPr marL="864235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7835" indent="0" algn="ctr">
              <a:buNone/>
              <a:defRPr sz="1510"/>
            </a:lvl5pPr>
            <a:lvl6pPr marL="2160270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3870" indent="0" algn="ctr">
              <a:buNone/>
              <a:defRPr sz="1510"/>
            </a:lvl8pPr>
            <a:lvl9pPr marL="3456305" indent="0" algn="ctr">
              <a:buNone/>
              <a:defRPr sz="15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1pPr>
            <a:lvl2pPr marL="43180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23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2960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4pPr>
            <a:lvl5pPr marL="17278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6pPr>
            <a:lvl7pPr marL="25920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7pPr>
            <a:lvl8pPr marL="30238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8pPr>
            <a:lvl9pPr marL="345630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70" b="1"/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54A03-91AF-448A-9954-517C0577E5F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C946-6D13-4F8C-9740-992A906A61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组合 3"/>
          <p:cNvGrpSpPr/>
          <p:nvPr userDrawn="1"/>
        </p:nvGrpSpPr>
        <p:grpSpPr bwMode="auto">
          <a:xfrm flipH="1">
            <a:off x="-1" y="312473"/>
            <a:ext cx="2264242" cy="639017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6" name="矩形 5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FontTx/>
                <a:buNone/>
                <a:defRPr/>
              </a:pPr>
              <a:endParaRPr lang="zh-CN" altLang="en-US" sz="1765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" name="文本框 12"/>
          <p:cNvSpPr txBox="1">
            <a:spLocks noChangeArrowheads="1"/>
          </p:cNvSpPr>
          <p:nvPr userDrawn="1"/>
        </p:nvSpPr>
        <p:spPr bwMode="auto">
          <a:xfrm>
            <a:off x="-1" y="466528"/>
            <a:ext cx="2262886" cy="315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>
              <a:buFontTx/>
              <a:buNone/>
            </a:pPr>
            <a:r>
              <a:rPr lang="zh-CN" altLang="en-US" sz="151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51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5"/>
            </a:lvl1pPr>
            <a:lvl2pPr>
              <a:defRPr sz="2645"/>
            </a:lvl2pPr>
            <a:lvl3pPr>
              <a:defRPr sz="227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0"/>
            </a:lvl1pPr>
            <a:lvl2pPr marL="431800" indent="0">
              <a:buNone/>
              <a:defRPr sz="1325"/>
            </a:lvl2pPr>
            <a:lvl3pPr marL="864235" indent="0">
              <a:buNone/>
              <a:defRPr sz="1135"/>
            </a:lvl3pPr>
            <a:lvl4pPr marL="1296035" indent="0">
              <a:buNone/>
              <a:defRPr sz="945"/>
            </a:lvl4pPr>
            <a:lvl5pPr marL="1727835" indent="0">
              <a:buNone/>
              <a:defRPr sz="945"/>
            </a:lvl5pPr>
            <a:lvl6pPr marL="2160270" indent="0">
              <a:buNone/>
              <a:defRPr sz="945"/>
            </a:lvl6pPr>
            <a:lvl7pPr marL="2592070" indent="0">
              <a:buNone/>
              <a:defRPr sz="945"/>
            </a:lvl7pPr>
            <a:lvl8pPr marL="3023870" indent="0">
              <a:buNone/>
              <a:defRPr sz="945"/>
            </a:lvl8pPr>
            <a:lvl9pPr marL="3456305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5"/>
            </a:lvl1pPr>
            <a:lvl2pPr marL="431800" indent="0">
              <a:buNone/>
              <a:defRPr sz="2645"/>
            </a:lvl2pPr>
            <a:lvl3pPr marL="864235" indent="0">
              <a:buNone/>
              <a:defRPr sz="2270"/>
            </a:lvl3pPr>
            <a:lvl4pPr marL="1296035" indent="0">
              <a:buNone/>
              <a:defRPr sz="1890"/>
            </a:lvl4pPr>
            <a:lvl5pPr marL="1727835" indent="0">
              <a:buNone/>
              <a:defRPr sz="1890"/>
            </a:lvl5pPr>
            <a:lvl6pPr marL="2160270" indent="0">
              <a:buNone/>
              <a:defRPr sz="1890"/>
            </a:lvl6pPr>
            <a:lvl7pPr marL="2592070" indent="0">
              <a:buNone/>
              <a:defRPr sz="1890"/>
            </a:lvl7pPr>
            <a:lvl8pPr marL="3023870" indent="0">
              <a:buNone/>
              <a:defRPr sz="1890"/>
            </a:lvl8pPr>
            <a:lvl9pPr marL="3456305" indent="0">
              <a:buNone/>
              <a:defRPr sz="1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0"/>
            </a:lvl1pPr>
            <a:lvl2pPr marL="431800" indent="0">
              <a:buNone/>
              <a:defRPr sz="1325"/>
            </a:lvl2pPr>
            <a:lvl3pPr marL="864235" indent="0">
              <a:buNone/>
              <a:defRPr sz="1135"/>
            </a:lvl3pPr>
            <a:lvl4pPr marL="1296035" indent="0">
              <a:buNone/>
              <a:defRPr sz="945"/>
            </a:lvl4pPr>
            <a:lvl5pPr marL="1727835" indent="0">
              <a:buNone/>
              <a:defRPr sz="945"/>
            </a:lvl5pPr>
            <a:lvl6pPr marL="2160270" indent="0">
              <a:buNone/>
              <a:defRPr sz="945"/>
            </a:lvl6pPr>
            <a:lvl7pPr marL="2592070" indent="0">
              <a:buNone/>
              <a:defRPr sz="945"/>
            </a:lvl7pPr>
            <a:lvl8pPr marL="3023870" indent="0">
              <a:buNone/>
              <a:defRPr sz="945"/>
            </a:lvl8pPr>
            <a:lvl9pPr marL="3456305" indent="0">
              <a:buNone/>
              <a:defRPr sz="9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push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 advClick="0" advTm="0"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6.xml"/><Relationship Id="rId12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5800" y="858023"/>
            <a:ext cx="10368889" cy="600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800" y="1512041"/>
            <a:ext cx="10368889" cy="427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rtl="0" fontAlgn="base">
        <a:spcBef>
          <a:spcPct val="0"/>
        </a:spcBef>
        <a:spcAft>
          <a:spcPct val="0"/>
        </a:spcAft>
        <a:defRPr sz="2265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31800"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863600"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295400"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727200" algn="l" rtl="0" fontAlgn="base">
        <a:spcBef>
          <a:spcPct val="0"/>
        </a:spcBef>
        <a:spcAft>
          <a:spcPct val="0"/>
        </a:spcAft>
        <a:defRPr sz="2265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23850" indent="-323850" algn="l" rtl="0" fontAlgn="base">
        <a:spcBef>
          <a:spcPct val="20000"/>
        </a:spcBef>
        <a:spcAft>
          <a:spcPct val="0"/>
        </a:spcAft>
        <a:buChar char="•"/>
        <a:defRPr sz="1890">
          <a:solidFill>
            <a:schemeClr val="accent1"/>
          </a:solidFill>
          <a:latin typeface="+mn-lt"/>
          <a:ea typeface="+mn-ea"/>
          <a:cs typeface="+mn-cs"/>
        </a:defRPr>
      </a:lvl1pPr>
      <a:lvl2pPr marL="701675" indent="-269875" algn="l" rtl="0" eaLnBrk="0" fontAlgn="base" hangingPunct="0">
        <a:spcBef>
          <a:spcPct val="20000"/>
        </a:spcBef>
        <a:spcAft>
          <a:spcPct val="0"/>
        </a:spcAft>
        <a:buChar char="–"/>
        <a:defRPr sz="1890">
          <a:solidFill>
            <a:schemeClr val="accent1"/>
          </a:solidFill>
          <a:latin typeface="+mn-lt"/>
          <a:ea typeface="仿宋_GB2312" pitchFamily="49" charset="-122"/>
        </a:defRPr>
      </a:lvl2pPr>
      <a:lvl3pPr marL="1079500" indent="-215900" algn="l" rtl="0" eaLnBrk="0" fontAlgn="base" hangingPunct="0">
        <a:spcBef>
          <a:spcPct val="20000"/>
        </a:spcBef>
        <a:spcAft>
          <a:spcPct val="0"/>
        </a:spcAft>
        <a:buChar char="•"/>
        <a:defRPr sz="2265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511300" indent="-215900" algn="l" rtl="0" eaLnBrk="0" fontAlgn="base" hangingPunct="0">
        <a:spcBef>
          <a:spcPct val="20000"/>
        </a:spcBef>
        <a:spcAft>
          <a:spcPct val="0"/>
        </a:spcAft>
        <a:buChar char="–"/>
        <a:defRPr sz="189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1943735" indent="-215900" algn="l" rtl="0" eaLnBrk="0" fontAlgn="base" hangingPunct="0">
        <a:spcBef>
          <a:spcPct val="20000"/>
        </a:spcBef>
        <a:spcAft>
          <a:spcPct val="0"/>
        </a:spcAft>
        <a:buChar char="»"/>
        <a:defRPr sz="189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375535" indent="-215900" algn="l" rtl="0" eaLnBrk="0" fontAlgn="base" hangingPunct="0">
        <a:spcBef>
          <a:spcPct val="20000"/>
        </a:spcBef>
        <a:spcAft>
          <a:spcPct val="0"/>
        </a:spcAft>
        <a:buChar char="»"/>
        <a:defRPr sz="189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807335" indent="-215900" algn="l" rtl="0" eaLnBrk="0" fontAlgn="base" hangingPunct="0">
        <a:spcBef>
          <a:spcPct val="20000"/>
        </a:spcBef>
        <a:spcAft>
          <a:spcPct val="0"/>
        </a:spcAft>
        <a:buChar char="»"/>
        <a:defRPr sz="189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239135" indent="-215900" algn="l" rtl="0" eaLnBrk="0" fontAlgn="base" hangingPunct="0">
        <a:spcBef>
          <a:spcPct val="20000"/>
        </a:spcBef>
        <a:spcAft>
          <a:spcPct val="0"/>
        </a:spcAft>
        <a:buChar char="»"/>
        <a:defRPr sz="189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670935" indent="-215900" algn="l" rtl="0" eaLnBrk="0" fontAlgn="base" hangingPunct="0">
        <a:spcBef>
          <a:spcPct val="20000"/>
        </a:spcBef>
        <a:spcAft>
          <a:spcPct val="0"/>
        </a:spcAft>
        <a:buChar char="»"/>
        <a:defRPr sz="189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360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540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200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596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14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2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5035" algn="l" defTabSz="8636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92213" y="345630"/>
            <a:ext cx="9936065" cy="1251657"/>
          </a:xfrm>
          <a:prstGeom prst="rect">
            <a:avLst/>
          </a:prstGeom>
        </p:spPr>
        <p:txBody>
          <a:bodyPr vert="horz" lIns="65032" tIns="32516" rIns="65032" bIns="3251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2213" y="1725298"/>
            <a:ext cx="9936065" cy="4111980"/>
          </a:xfrm>
          <a:prstGeom prst="rect">
            <a:avLst/>
          </a:prstGeom>
        </p:spPr>
        <p:txBody>
          <a:bodyPr vert="horz" lIns="65032" tIns="32516" rIns="65032" bIns="3251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213" y="6006537"/>
            <a:ext cx="2591399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15985" y="6006537"/>
            <a:ext cx="3888520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36881" y="6006537"/>
            <a:ext cx="2591399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ransition spd="med" advClick="0" advTm="0">
    <p:push dir="r"/>
  </p:transition>
  <p:txStyles>
    <p:titleStyle>
      <a:lvl1pPr algn="l" defTabSz="818515" rtl="0" eaLnBrk="1" latinLnBrk="0" hangingPunct="1">
        <a:lnSpc>
          <a:spcPct val="90000"/>
        </a:lnSpc>
        <a:spcBef>
          <a:spcPct val="0"/>
        </a:spcBef>
        <a:buNone/>
        <a:defRPr sz="39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470" indent="-204470" algn="l" defTabSz="818515" rtl="0" eaLnBrk="1" latinLnBrk="0" hangingPunct="1">
        <a:lnSpc>
          <a:spcPct val="90000"/>
        </a:lnSpc>
        <a:spcBef>
          <a:spcPts val="89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404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2362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3319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84213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25171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66128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307022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47980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0957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1851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2809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3766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4724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5618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86575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27533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92213" y="345630"/>
            <a:ext cx="9936065" cy="1251657"/>
          </a:xfrm>
          <a:prstGeom prst="rect">
            <a:avLst/>
          </a:prstGeom>
        </p:spPr>
        <p:txBody>
          <a:bodyPr vert="horz" lIns="65032" tIns="32516" rIns="65032" bIns="3251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2213" y="1725298"/>
            <a:ext cx="9936065" cy="4111980"/>
          </a:xfrm>
          <a:prstGeom prst="rect">
            <a:avLst/>
          </a:prstGeom>
        </p:spPr>
        <p:txBody>
          <a:bodyPr vert="horz" lIns="65032" tIns="32516" rIns="65032" bIns="3251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213" y="6006537"/>
            <a:ext cx="2591399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15985" y="6006537"/>
            <a:ext cx="3888520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36881" y="6006537"/>
            <a:ext cx="2591399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 spd="med" advClick="0" advTm="0">
    <p:push dir="r"/>
  </p:transition>
  <p:txStyles>
    <p:titleStyle>
      <a:lvl1pPr algn="l" defTabSz="818515" rtl="0" eaLnBrk="1" latinLnBrk="0" hangingPunct="1">
        <a:lnSpc>
          <a:spcPct val="90000"/>
        </a:lnSpc>
        <a:spcBef>
          <a:spcPct val="0"/>
        </a:spcBef>
        <a:buNone/>
        <a:defRPr sz="39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470" indent="-204470" algn="l" defTabSz="818515" rtl="0" eaLnBrk="1" latinLnBrk="0" hangingPunct="1">
        <a:lnSpc>
          <a:spcPct val="90000"/>
        </a:lnSpc>
        <a:spcBef>
          <a:spcPts val="89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404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2362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3319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84213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25171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66128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307022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47980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0957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1851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2809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3766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4724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5618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86575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27533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92213" y="345630"/>
            <a:ext cx="9936065" cy="1251657"/>
          </a:xfrm>
          <a:prstGeom prst="rect">
            <a:avLst/>
          </a:prstGeom>
        </p:spPr>
        <p:txBody>
          <a:bodyPr vert="horz" lIns="65032" tIns="32516" rIns="65032" bIns="3251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2213" y="1725298"/>
            <a:ext cx="9936065" cy="4111980"/>
          </a:xfrm>
          <a:prstGeom prst="rect">
            <a:avLst/>
          </a:prstGeom>
        </p:spPr>
        <p:txBody>
          <a:bodyPr vert="horz" lIns="65032" tIns="32516" rIns="65032" bIns="3251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92213" y="6006537"/>
            <a:ext cx="2591399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fld id="{43A93E93-166D-47F5-9EF1-ACEABE24AEEA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15985" y="6006537"/>
            <a:ext cx="3888520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36881" y="6006537"/>
            <a:ext cx="2591399" cy="344205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FontTx/>
              <a:buNone/>
            </a:pPr>
            <a:fld id="{118D5ACA-62CA-46DB-AD6B-12EDD6D51A2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ransition spd="med" advClick="0" advTm="0">
    <p:push dir="r"/>
  </p:transition>
  <p:txStyles>
    <p:titleStyle>
      <a:lvl1pPr algn="l" defTabSz="818515" rtl="0" eaLnBrk="1" latinLnBrk="0" hangingPunct="1">
        <a:lnSpc>
          <a:spcPct val="90000"/>
        </a:lnSpc>
        <a:spcBef>
          <a:spcPct val="0"/>
        </a:spcBef>
        <a:buNone/>
        <a:defRPr sz="39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470" indent="-204470" algn="l" defTabSz="818515" rtl="0" eaLnBrk="1" latinLnBrk="0" hangingPunct="1">
        <a:lnSpc>
          <a:spcPct val="90000"/>
        </a:lnSpc>
        <a:spcBef>
          <a:spcPts val="89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404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40" kern="1200">
          <a:solidFill>
            <a:schemeClr val="tx1"/>
          </a:solidFill>
          <a:latin typeface="+mn-lt"/>
          <a:ea typeface="+mn-ea"/>
          <a:cs typeface="+mn-cs"/>
        </a:defRPr>
      </a:lvl2pPr>
      <a:lvl3pPr marL="102362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3319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84213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25171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66128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3070225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479800" indent="-204470" algn="l" defTabSz="818515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0957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1851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2809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3766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4724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5618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865755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275330" algn="l" defTabSz="818515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spd="med">
    <p:push dir="r"/>
  </p:transition>
  <p:txStyles>
    <p:titleStyle>
      <a:lvl1pPr algn="l" defTabSz="864235" rtl="0" eaLnBrk="1" latinLnBrk="0" hangingPunct="1">
        <a:lnSpc>
          <a:spcPct val="90000"/>
        </a:lnSpc>
        <a:spcBef>
          <a:spcPct val="0"/>
        </a:spcBef>
        <a:buNone/>
        <a:defRPr sz="4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 spd="med">
    <p:push dir="r"/>
  </p:transition>
  <p:txStyles>
    <p:titleStyle>
      <a:lvl1pPr algn="l" defTabSz="864235" rtl="0" eaLnBrk="1" latinLnBrk="0" hangingPunct="1">
        <a:lnSpc>
          <a:spcPct val="90000"/>
        </a:lnSpc>
        <a:spcBef>
          <a:spcPct val="0"/>
        </a:spcBef>
        <a:buNone/>
        <a:defRPr sz="4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94373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3.xml"/><Relationship Id="rId13" Type="http://schemas.openxmlformats.org/officeDocument/2006/relationships/image" Target="../media/image21.jpeg"/><Relationship Id="rId12" Type="http://schemas.openxmlformats.org/officeDocument/2006/relationships/tags" Target="../tags/tag10.xml"/><Relationship Id="rId11" Type="http://schemas.openxmlformats.org/officeDocument/2006/relationships/image" Target="../media/image20.jpeg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45.xml"/><Relationship Id="rId2" Type="http://schemas.openxmlformats.org/officeDocument/2006/relationships/image" Target="../media/image22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ty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27" y="-732"/>
            <a:ext cx="11514435" cy="6479692"/>
          </a:xfrm>
          <a:prstGeom prst="rect">
            <a:avLst/>
          </a:prstGeom>
          <a:noFill/>
        </p:spPr>
      </p:pic>
      <p:sp>
        <p:nvSpPr>
          <p:cNvPr id="18" name="矩形 259"/>
          <p:cNvSpPr>
            <a:spLocks noChangeArrowheads="1"/>
          </p:cNvSpPr>
          <p:nvPr/>
        </p:nvSpPr>
        <p:spPr bwMode="auto">
          <a:xfrm>
            <a:off x="936625" y="2499995"/>
            <a:ext cx="9765030" cy="655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5035" b="1" cap="all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面向视障导航的智能反馈系统</a:t>
            </a:r>
            <a:endParaRPr lang="zh-CN" altLang="en-US" sz="5035" b="1" cap="all" dirty="0">
              <a:solidFill>
                <a:prstClr val="black">
                  <a:lumMod val="65000"/>
                  <a:lumOff val="3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9" name="矩形 259"/>
          <p:cNvSpPr>
            <a:spLocks noChangeArrowheads="1"/>
          </p:cNvSpPr>
          <p:nvPr/>
        </p:nvSpPr>
        <p:spPr bwMode="auto">
          <a:xfrm>
            <a:off x="2496514" y="3206913"/>
            <a:ext cx="6771607" cy="28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lang="en-US" altLang="zh-CN" sz="1385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HARBIN ENGINEERING UNIVERSITY</a:t>
            </a:r>
            <a:endParaRPr lang="zh-CN" altLang="en-US" sz="1385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59"/>
          <p:cNvSpPr>
            <a:spLocks noChangeArrowheads="1"/>
          </p:cNvSpPr>
          <p:nvPr/>
        </p:nvSpPr>
        <p:spPr bwMode="auto">
          <a:xfrm>
            <a:off x="2364977" y="3823523"/>
            <a:ext cx="7021634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   </a:t>
            </a:r>
            <a:r>
              <a:rPr lang="en-US" altLang="zh-CN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2025</a:t>
            </a:r>
            <a:r>
              <a:rPr lang="zh-CN" altLang="en-US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年</a:t>
            </a:r>
            <a:r>
              <a:rPr lang="en-US" altLang="zh-CN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12</a:t>
            </a:r>
            <a:r>
              <a:rPr lang="zh-CN" altLang="en-US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月</a:t>
            </a:r>
            <a:endParaRPr lang="zh-CN" altLang="en-US" sz="1510" dirty="0">
              <a:solidFill>
                <a:prstClr val="black">
                  <a:lumMod val="65000"/>
                  <a:lumOff val="35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783" y="1025179"/>
            <a:ext cx="4104399" cy="1231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0"/>
          <p:cNvGrpSpPr/>
          <p:nvPr/>
        </p:nvGrpSpPr>
        <p:grpSpPr>
          <a:xfrm>
            <a:off x="2859152" y="1355793"/>
            <a:ext cx="2563608" cy="724727"/>
            <a:chOff x="1409700" y="1155700"/>
            <a:chExt cx="2714463" cy="767269"/>
          </a:xfrm>
        </p:grpSpPr>
        <p:sp>
          <p:nvSpPr>
            <p:cNvPr id="31" name="文本框 30"/>
            <p:cNvSpPr txBox="1"/>
            <p:nvPr/>
          </p:nvSpPr>
          <p:spPr>
            <a:xfrm>
              <a:off x="1409700" y="1155700"/>
              <a:ext cx="1220721" cy="7131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63600">
                <a:defRPr/>
              </a:pPr>
              <a:r>
                <a:rPr lang="zh-CN" altLang="en-US" sz="3775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/>
                  <a:ea typeface="微软雅黑" panose="020B0503020204020204" pitchFamily="34" charset="-122"/>
                </a:rPr>
                <a:t>目录</a:t>
              </a:r>
              <a:endParaRPr lang="zh-CN" altLang="en-US" sz="3775" b="1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747288" y="1520685"/>
              <a:ext cx="1376875" cy="3910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63600">
                <a:defRPr/>
              </a:pPr>
              <a:r>
                <a:rPr lang="en-US" altLang="zh-CN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Arial" panose="020B0604020202020204"/>
                  <a:ea typeface="微软雅黑" panose="020B0503020204020204" pitchFamily="34" charset="-122"/>
                </a:rPr>
                <a:t>CONTENT</a:t>
              </a:r>
              <a:endParaRPr lang="zh-CN" altLang="en-US" dirty="0">
                <a:solidFill>
                  <a:srgbClr val="000000">
                    <a:lumMod val="85000"/>
                    <a:lumOff val="15000"/>
                  </a:srgb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 flipH="1">
              <a:off x="2451765" y="1461463"/>
              <a:ext cx="413246" cy="461506"/>
            </a:xfrm>
            <a:prstGeom prst="line">
              <a:avLst/>
            </a:prstGeom>
            <a:ln w="25400" cap="rnd">
              <a:solidFill>
                <a:schemeClr val="bg2">
                  <a:lumMod val="2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37"/>
          <p:cNvGrpSpPr/>
          <p:nvPr/>
        </p:nvGrpSpPr>
        <p:grpSpPr>
          <a:xfrm>
            <a:off x="3054632" y="2657615"/>
            <a:ext cx="4269966" cy="381635"/>
            <a:chOff x="8258783" y="2250997"/>
            <a:chExt cx="4521231" cy="404037"/>
          </a:xfrm>
        </p:grpSpPr>
        <p:sp>
          <p:nvSpPr>
            <p:cNvPr id="36" name="矩形 35"/>
            <p:cNvSpPr/>
            <p:nvPr/>
          </p:nvSpPr>
          <p:spPr>
            <a:xfrm>
              <a:off x="8258783" y="2358640"/>
              <a:ext cx="651753" cy="184826"/>
            </a:xfrm>
            <a:prstGeom prst="rect">
              <a:avLst/>
            </a:prstGeom>
            <a:solidFill>
              <a:srgbClr val="2C99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3600">
                <a:defRPr/>
              </a:pPr>
              <a:endParaRPr lang="zh-CN" altLang="en-US" sz="176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055765" y="2250997"/>
              <a:ext cx="3724249" cy="404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63600">
                <a:defRPr/>
              </a:pPr>
              <a:r>
                <a:rPr lang="zh-CN" altLang="en-US" sz="1890" dirty="0">
                  <a:solidFill>
                    <a:prstClr val="white">
                      <a:lumMod val="50000"/>
                    </a:prstClr>
                  </a:solidFill>
                  <a:latin typeface="Arial" panose="020B0604020202020204"/>
                  <a:ea typeface="微软雅黑" panose="020B0503020204020204" pitchFamily="34" charset="-122"/>
                </a:rPr>
                <a:t>研究背景与意义</a:t>
              </a:r>
              <a:endParaRPr lang="zh-CN" altLang="en-US" sz="1890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38"/>
          <p:cNvGrpSpPr/>
          <p:nvPr/>
        </p:nvGrpSpPr>
        <p:grpSpPr>
          <a:xfrm>
            <a:off x="3054632" y="3342487"/>
            <a:ext cx="5018133" cy="381635"/>
            <a:chOff x="8258783" y="2250997"/>
            <a:chExt cx="5313424" cy="404037"/>
          </a:xfrm>
        </p:grpSpPr>
        <p:sp>
          <p:nvSpPr>
            <p:cNvPr id="40" name="矩形 39"/>
            <p:cNvSpPr/>
            <p:nvPr/>
          </p:nvSpPr>
          <p:spPr>
            <a:xfrm>
              <a:off x="8258783" y="2358640"/>
              <a:ext cx="651753" cy="184826"/>
            </a:xfrm>
            <a:prstGeom prst="rect">
              <a:avLst/>
            </a:prstGeom>
            <a:solidFill>
              <a:srgbClr val="D53E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3600">
                <a:defRPr/>
              </a:pPr>
              <a:endParaRPr lang="zh-CN" altLang="en-US" sz="176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055765" y="2250997"/>
              <a:ext cx="4516442" cy="404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63600">
                <a:defRPr/>
              </a:pPr>
              <a:r>
                <a:rPr lang="zh-CN" altLang="en-US" sz="1890" dirty="0">
                  <a:solidFill>
                    <a:prstClr val="white">
                      <a:lumMod val="50000"/>
                    </a:prstClr>
                  </a:solidFill>
                  <a:latin typeface="Arial" panose="020B0604020202020204"/>
                  <a:ea typeface="微软雅黑" panose="020B0503020204020204" pitchFamily="34" charset="-122"/>
                </a:rPr>
                <a:t>需求</a:t>
              </a:r>
              <a:r>
                <a:rPr lang="zh-CN" altLang="en-US" sz="1890" dirty="0">
                  <a:solidFill>
                    <a:prstClr val="white">
                      <a:lumMod val="50000"/>
                    </a:prstClr>
                  </a:solidFill>
                  <a:latin typeface="Arial" panose="020B0604020202020204"/>
                  <a:ea typeface="微软雅黑" panose="020B0503020204020204" pitchFamily="34" charset="-122"/>
                </a:rPr>
                <a:t>分析</a:t>
              </a:r>
              <a:endParaRPr lang="zh-CN" altLang="en-US" sz="1890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41"/>
          <p:cNvGrpSpPr/>
          <p:nvPr/>
        </p:nvGrpSpPr>
        <p:grpSpPr>
          <a:xfrm>
            <a:off x="3054632" y="4027349"/>
            <a:ext cx="5018134" cy="381635"/>
            <a:chOff x="8258783" y="2250998"/>
            <a:chExt cx="5313425" cy="404039"/>
          </a:xfrm>
        </p:grpSpPr>
        <p:sp>
          <p:nvSpPr>
            <p:cNvPr id="43" name="矩形 42"/>
            <p:cNvSpPr/>
            <p:nvPr/>
          </p:nvSpPr>
          <p:spPr>
            <a:xfrm>
              <a:off x="8258783" y="2358640"/>
              <a:ext cx="651753" cy="184826"/>
            </a:xfrm>
            <a:prstGeom prst="rect">
              <a:avLst/>
            </a:prstGeom>
            <a:solidFill>
              <a:srgbClr val="ECA1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3600">
                <a:defRPr/>
              </a:pPr>
              <a:endParaRPr lang="zh-CN" altLang="en-US" sz="176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9055766" y="2250998"/>
              <a:ext cx="4516442" cy="404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63600">
                <a:defRPr/>
              </a:pPr>
              <a:r>
                <a:rPr lang="zh-CN" altLang="en-US" sz="1890" dirty="0">
                  <a:solidFill>
                    <a:prstClr val="white">
                      <a:lumMod val="50000"/>
                    </a:prstClr>
                  </a:solidFill>
                  <a:latin typeface="Arial" panose="020B0604020202020204"/>
                  <a:ea typeface="微软雅黑" panose="020B0503020204020204" pitchFamily="34" charset="-122"/>
                  <a:sym typeface="+mn-ea"/>
                </a:rPr>
                <a:t>总体设计框架</a:t>
              </a:r>
              <a:endParaRPr lang="zh-CN" altLang="en-US" sz="1890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44"/>
          <p:cNvGrpSpPr/>
          <p:nvPr/>
        </p:nvGrpSpPr>
        <p:grpSpPr>
          <a:xfrm>
            <a:off x="3054632" y="4712232"/>
            <a:ext cx="6378441" cy="381635"/>
            <a:chOff x="8258783" y="2250998"/>
            <a:chExt cx="6753779" cy="404037"/>
          </a:xfrm>
        </p:grpSpPr>
        <p:sp>
          <p:nvSpPr>
            <p:cNvPr id="46" name="矩形 45"/>
            <p:cNvSpPr/>
            <p:nvPr/>
          </p:nvSpPr>
          <p:spPr>
            <a:xfrm>
              <a:off x="8258783" y="2358640"/>
              <a:ext cx="651753" cy="184826"/>
            </a:xfrm>
            <a:prstGeom prst="rect">
              <a:avLst/>
            </a:prstGeom>
            <a:solidFill>
              <a:srgbClr val="2C99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3600">
                <a:defRPr/>
              </a:pPr>
              <a:endParaRPr lang="zh-CN" altLang="en-US" sz="176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055765" y="2250998"/>
              <a:ext cx="5956797" cy="404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63600">
                <a:defRPr/>
              </a:pPr>
              <a:r>
                <a:rPr lang="zh-CN" altLang="en-US" sz="1890" dirty="0">
                  <a:solidFill>
                    <a:prstClr val="white">
                      <a:lumMod val="50000"/>
                    </a:prstClr>
                  </a:solidFill>
                  <a:latin typeface="Arial" panose="020B0604020202020204"/>
                  <a:ea typeface="微软雅黑" panose="020B0503020204020204" pitchFamily="34" charset="-122"/>
                  <a:sym typeface="+mn-ea"/>
                </a:rPr>
                <a:t>系统创新点</a:t>
              </a:r>
              <a:endParaRPr lang="zh-CN" altLang="en-US" sz="1890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44"/>
          <p:cNvGrpSpPr/>
          <p:nvPr/>
        </p:nvGrpSpPr>
        <p:grpSpPr>
          <a:xfrm>
            <a:off x="3054632" y="5328182"/>
            <a:ext cx="6378441" cy="381635"/>
            <a:chOff x="8258783" y="2250998"/>
            <a:chExt cx="6753779" cy="404037"/>
          </a:xfrm>
        </p:grpSpPr>
        <p:sp>
          <p:nvSpPr>
            <p:cNvPr id="3" name="矩形 2"/>
            <p:cNvSpPr/>
            <p:nvPr/>
          </p:nvSpPr>
          <p:spPr>
            <a:xfrm>
              <a:off x="8258783" y="2358640"/>
              <a:ext cx="651753" cy="1848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63600">
                <a:defRPr/>
              </a:pPr>
              <a:endParaRPr lang="zh-CN" altLang="en-US" sz="176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055765" y="2250998"/>
              <a:ext cx="5956797" cy="404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863600">
                <a:defRPr/>
              </a:pPr>
              <a:r>
                <a:rPr lang="zh-CN" altLang="en-US" sz="1890" dirty="0">
                  <a:solidFill>
                    <a:prstClr val="white">
                      <a:lumMod val="50000"/>
                    </a:prstClr>
                  </a:solidFill>
                  <a:latin typeface="Arial" panose="020B0604020202020204"/>
                  <a:ea typeface="微软雅黑" panose="020B0503020204020204" pitchFamily="34" charset="-122"/>
                </a:rPr>
                <a:t>总结与展望</a:t>
              </a:r>
              <a:endParaRPr lang="zh-CN" altLang="en-US" sz="1890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Administrator\Desktop\ty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27" y="-732"/>
            <a:ext cx="11514435" cy="6479692"/>
          </a:xfrm>
          <a:prstGeom prst="rect">
            <a:avLst/>
          </a:prstGeom>
          <a:noFill/>
        </p:spPr>
      </p:pic>
      <p:sp>
        <p:nvSpPr>
          <p:cNvPr id="13" name="TextBox 48"/>
          <p:cNvSpPr txBox="1"/>
          <p:nvPr/>
        </p:nvSpPr>
        <p:spPr>
          <a:xfrm>
            <a:off x="5002966" y="2319337"/>
            <a:ext cx="3546396" cy="601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63600">
              <a:defRPr/>
            </a:pP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研究背景与意义</a:t>
            </a:r>
            <a:endParaRPr lang="en-GB" altLang="zh-CN" sz="3905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2918587" y="1749140"/>
            <a:ext cx="1966815" cy="1981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2340" cap="all" spc="268" dirty="0">
                <a:solidFill>
                  <a:srgbClr val="2C99C0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z="12340" cap="all" spc="268" dirty="0">
              <a:solidFill>
                <a:srgbClr val="2C99C0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59130" y="307340"/>
            <a:ext cx="6428740" cy="55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研究背景：视障出行面临严峻挑战</a:t>
            </a:r>
            <a:endParaRPr lang="zh-CN" altLang="en-US" sz="302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54737" y="254367"/>
            <a:ext cx="248151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417060" y="418559"/>
            <a:ext cx="248151" cy="253749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251005" y="590212"/>
            <a:ext cx="246285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"/>
            </p:custDataLst>
          </p:nvPr>
        </p:nvSpPr>
        <p:spPr bwMode="auto">
          <a:xfrm>
            <a:off x="1" y="4260318"/>
            <a:ext cx="11520488" cy="612138"/>
          </a:xfrm>
          <a:prstGeom prst="rect">
            <a:avLst/>
          </a:prstGeom>
          <a:solidFill>
            <a:srgbClr val="2C99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7" name="TextBox 16"/>
          <p:cNvSpPr txBox="1"/>
          <p:nvPr>
            <p:custDataLst>
              <p:tags r:id="rId2"/>
            </p:custDataLst>
          </p:nvPr>
        </p:nvSpPr>
        <p:spPr>
          <a:xfrm>
            <a:off x="1426631" y="4354598"/>
            <a:ext cx="2055099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n-ea"/>
                <a:ea typeface="+mn-ea"/>
              </a:rPr>
              <a:t>视障人群</a:t>
            </a:r>
            <a:r>
              <a:rPr lang="zh-CN" altLang="en-US" sz="2265" b="1" dirty="0">
                <a:solidFill>
                  <a:schemeClr val="accent2"/>
                </a:solidFill>
                <a:latin typeface="+mn-ea"/>
                <a:ea typeface="+mn-ea"/>
              </a:rPr>
              <a:t>多</a:t>
            </a:r>
            <a:endParaRPr lang="zh-CN" altLang="en-US" sz="2265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8" name="TextBox 17"/>
          <p:cNvSpPr txBox="1"/>
          <p:nvPr>
            <p:custDataLst>
              <p:tags r:id="rId3"/>
            </p:custDataLst>
          </p:nvPr>
        </p:nvSpPr>
        <p:spPr>
          <a:xfrm>
            <a:off x="1346602" y="5058942"/>
            <a:ext cx="2614221" cy="555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10" dirty="0">
                <a:solidFill>
                  <a:schemeClr val="accent1"/>
                </a:solidFill>
                <a:latin typeface="+mn-ea"/>
                <a:ea typeface="+mn-ea"/>
              </a:rPr>
              <a:t>全球有</a:t>
            </a:r>
            <a:r>
              <a:rPr lang="en-US" altLang="zh-CN" sz="1510" dirty="0">
                <a:solidFill>
                  <a:schemeClr val="accent1"/>
                </a:solidFill>
                <a:latin typeface="+mn-ea"/>
                <a:ea typeface="+mn-ea"/>
              </a:rPr>
              <a:t>2.85</a:t>
            </a:r>
            <a:r>
              <a:rPr lang="zh-CN" altLang="en-US" sz="1510" dirty="0">
                <a:solidFill>
                  <a:schemeClr val="accent1"/>
                </a:solidFill>
                <a:latin typeface="+mn-ea"/>
                <a:ea typeface="+mn-ea"/>
              </a:rPr>
              <a:t>亿视障者，其中</a:t>
            </a:r>
            <a:r>
              <a:rPr lang="en-US" altLang="zh-CN" sz="1510" dirty="0">
                <a:solidFill>
                  <a:schemeClr val="accent1"/>
                </a:solidFill>
                <a:latin typeface="+mn-ea"/>
                <a:ea typeface="+mn-ea"/>
              </a:rPr>
              <a:t>3900</a:t>
            </a:r>
            <a:r>
              <a:rPr lang="zh-CN" altLang="en-US" sz="1510" dirty="0">
                <a:solidFill>
                  <a:schemeClr val="accent1"/>
                </a:solidFill>
                <a:latin typeface="+mn-ea"/>
                <a:ea typeface="+mn-ea"/>
              </a:rPr>
              <a:t>万重度视力损伤</a:t>
            </a:r>
            <a:endParaRPr lang="zh-CN" altLang="en-US" sz="151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19" name="TextBox 18"/>
          <p:cNvSpPr txBox="1"/>
          <p:nvPr>
            <p:custDataLst>
              <p:tags r:id="rId4"/>
            </p:custDataLst>
          </p:nvPr>
        </p:nvSpPr>
        <p:spPr>
          <a:xfrm>
            <a:off x="4791870" y="4354598"/>
            <a:ext cx="2055099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n-ea"/>
                <a:ea typeface="+mn-ea"/>
              </a:rPr>
              <a:t>现有工具</a:t>
            </a:r>
            <a:r>
              <a:rPr lang="zh-CN" altLang="en-US" sz="2265" b="1" dirty="0">
                <a:solidFill>
                  <a:schemeClr val="accent2"/>
                </a:solidFill>
                <a:latin typeface="+mn-ea"/>
                <a:ea typeface="+mn-ea"/>
              </a:rPr>
              <a:t>缺陷</a:t>
            </a:r>
            <a:endParaRPr lang="zh-CN" altLang="en-US" sz="2265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>
            <p:custDataLst>
              <p:tags r:id="rId5"/>
            </p:custDataLst>
          </p:nvPr>
        </p:nvSpPr>
        <p:spPr>
          <a:xfrm>
            <a:off x="4473788" y="5058942"/>
            <a:ext cx="2614221" cy="78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10" dirty="0">
                <a:solidFill>
                  <a:schemeClr val="accent1"/>
                </a:solidFill>
                <a:latin typeface="+mn-ea"/>
                <a:ea typeface="+mn-ea"/>
              </a:rPr>
              <a:t>传统工具（白手杖、导盲犬）感知范围有限、信息维度单一</a:t>
            </a:r>
            <a:endParaRPr lang="zh-CN" altLang="en-US" sz="151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>
            <p:custDataLst>
              <p:tags r:id="rId6"/>
            </p:custDataLst>
          </p:nvPr>
        </p:nvSpPr>
        <p:spPr>
          <a:xfrm>
            <a:off x="7933948" y="4354598"/>
            <a:ext cx="2055099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n-ea"/>
                <a:ea typeface="+mn-ea"/>
              </a:rPr>
              <a:t>技术</a:t>
            </a:r>
            <a:r>
              <a:rPr lang="zh-CN" altLang="en-US" sz="2265" b="1" dirty="0">
                <a:solidFill>
                  <a:schemeClr val="accent2"/>
                </a:solidFill>
                <a:latin typeface="+mn-ea"/>
                <a:ea typeface="+mn-ea"/>
              </a:rPr>
              <a:t>优势</a:t>
            </a:r>
            <a:endParaRPr lang="zh-CN" altLang="en-US" sz="2265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7615866" y="5058942"/>
            <a:ext cx="2614221" cy="78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10" dirty="0">
                <a:solidFill>
                  <a:schemeClr val="accent1"/>
                </a:solidFill>
                <a:latin typeface="+mn-ea"/>
                <a:ea typeface="+mn-ea"/>
              </a:rPr>
              <a:t>智能辅助系统成为新方向，触觉通道具有隐私性强、不干扰听觉等优势</a:t>
            </a:r>
            <a:endParaRPr lang="zh-CN" altLang="en-US" sz="1510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23" name="Rectangle 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404018" y="2059711"/>
            <a:ext cx="2493632" cy="1937325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24" name="Rectangle 7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540053" y="2059711"/>
            <a:ext cx="2493632" cy="1937325"/>
          </a:xfrm>
          <a:prstGeom prst="rect">
            <a:avLst/>
          </a:prstGeom>
          <a:blipFill dpi="0" rotWithShape="1">
            <a:blip r:embed="rId11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25" name="Rectangle 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676089" y="2059711"/>
            <a:ext cx="2493632" cy="1937325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Administrator\Desktop\ty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27" y="-732"/>
            <a:ext cx="11514435" cy="6479692"/>
          </a:xfrm>
          <a:prstGeom prst="rect">
            <a:avLst/>
          </a:prstGeom>
          <a:noFill/>
        </p:spPr>
      </p:pic>
      <p:sp>
        <p:nvSpPr>
          <p:cNvPr id="13" name="TextBox 48"/>
          <p:cNvSpPr txBox="1"/>
          <p:nvPr/>
        </p:nvSpPr>
        <p:spPr>
          <a:xfrm>
            <a:off x="5002966" y="2319337"/>
            <a:ext cx="3546396" cy="601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63600">
              <a:defRPr/>
            </a:pP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需求</a:t>
            </a: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分析</a:t>
            </a:r>
            <a:endParaRPr lang="zh-CN" altLang="en-US" sz="3905" dirty="0">
              <a:solidFill>
                <a:prstClr val="white">
                  <a:lumMod val="50000"/>
                </a:prstClr>
              </a:solidFill>
              <a:latin typeface="Arial" panose="020B060402020202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2918587" y="1749140"/>
            <a:ext cx="1966815" cy="1981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2340" cap="all" spc="268" dirty="0">
                <a:solidFill>
                  <a:srgbClr val="2C99C0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z="12340" cap="all" spc="268" dirty="0">
              <a:solidFill>
                <a:srgbClr val="2C99C0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59130" y="307340"/>
            <a:ext cx="6041390" cy="55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用户需求：安全、直观、个性化</a:t>
            </a:r>
            <a:endParaRPr lang="zh-CN" altLang="en-US" sz="302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54737" y="254367"/>
            <a:ext cx="248151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417060" y="418559"/>
            <a:ext cx="248151" cy="253749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251005" y="590212"/>
            <a:ext cx="246285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8" name="Freeform 14"/>
          <p:cNvSpPr/>
          <p:nvPr>
            <p:custDataLst>
              <p:tags r:id="rId1"/>
            </p:custDataLst>
          </p:nvPr>
        </p:nvSpPr>
        <p:spPr bwMode="auto">
          <a:xfrm>
            <a:off x="1490946" y="1273576"/>
            <a:ext cx="1299765" cy="1298915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0A97A6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3031646" y="1387803"/>
            <a:ext cx="70815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需要提前感知障碍物方向、距离、运动趋势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431001" y="1530573"/>
            <a:ext cx="1416912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j-ea"/>
                <a:ea typeface="+mj-ea"/>
              </a:rPr>
              <a:t>实时感知</a:t>
            </a:r>
            <a:endParaRPr lang="zh-CN" altLang="en-US" sz="226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2" name="Freeform 14"/>
          <p:cNvSpPr/>
          <p:nvPr>
            <p:custDataLst>
              <p:tags r:id="rId4"/>
            </p:custDataLst>
          </p:nvPr>
        </p:nvSpPr>
        <p:spPr bwMode="auto">
          <a:xfrm>
            <a:off x="1490946" y="3053647"/>
            <a:ext cx="1299765" cy="1298915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ECA11A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3031646" y="3028029"/>
            <a:ext cx="7081581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700" dirty="0"/>
              <a:t>提示应简洁直观，避免复杂学习</a:t>
            </a:r>
            <a:endParaRPr lang="zh-CN" altLang="en-US" sz="1700" dirty="0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1446359" y="3423290"/>
            <a:ext cx="1416912" cy="788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j-ea"/>
                <a:ea typeface="+mj-ea"/>
              </a:rPr>
              <a:t>低认知负担</a:t>
            </a:r>
            <a:endParaRPr lang="zh-CN" altLang="en-US" sz="226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Freeform 14"/>
          <p:cNvSpPr/>
          <p:nvPr>
            <p:custDataLst>
              <p:tags r:id="rId7"/>
            </p:custDataLst>
          </p:nvPr>
        </p:nvSpPr>
        <p:spPr bwMode="auto">
          <a:xfrm>
            <a:off x="1490946" y="4721479"/>
            <a:ext cx="1299765" cy="1298915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D53E25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031646" y="5010131"/>
            <a:ext cx="708158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系统输出需稳定，避免误报漏报，支持用户触觉敏感度调节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1490980" y="4881245"/>
            <a:ext cx="1406525" cy="914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j-ea"/>
                <a:ea typeface="+mj-ea"/>
              </a:rPr>
              <a:t>稳定可靠、个性</a:t>
            </a:r>
            <a:r>
              <a:rPr lang="zh-CN" altLang="en-US" sz="2265" b="1" dirty="0">
                <a:solidFill>
                  <a:schemeClr val="accent2"/>
                </a:solidFill>
                <a:latin typeface="+mj-ea"/>
                <a:ea typeface="+mj-ea"/>
              </a:rPr>
              <a:t>化适配</a:t>
            </a:r>
            <a:endParaRPr lang="zh-CN" altLang="en-US" sz="226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auto">
          <a:xfrm>
            <a:off x="5828259" y="791534"/>
            <a:ext cx="4420999" cy="1994367"/>
          </a:xfrm>
          <a:prstGeom prst="rect">
            <a:avLst/>
          </a:prstGeom>
          <a:solidFill>
            <a:schemeClr val="accent2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0" name="矩形 9"/>
          <p:cNvSpPr/>
          <p:nvPr/>
        </p:nvSpPr>
        <p:spPr bwMode="auto">
          <a:xfrm>
            <a:off x="931153" y="791534"/>
            <a:ext cx="4420999" cy="1994367"/>
          </a:xfrm>
          <a:prstGeom prst="rect">
            <a:avLst/>
          </a:prstGeom>
          <a:solidFill>
            <a:schemeClr val="accent2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1" name="矩形 10"/>
          <p:cNvSpPr/>
          <p:nvPr/>
        </p:nvSpPr>
        <p:spPr bwMode="auto">
          <a:xfrm>
            <a:off x="5828259" y="3830075"/>
            <a:ext cx="4420999" cy="1994367"/>
          </a:xfrm>
          <a:prstGeom prst="rect">
            <a:avLst/>
          </a:prstGeom>
          <a:solidFill>
            <a:schemeClr val="accent2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2" name="矩形 11"/>
          <p:cNvSpPr/>
          <p:nvPr/>
        </p:nvSpPr>
        <p:spPr bwMode="auto">
          <a:xfrm>
            <a:off x="931153" y="3830075"/>
            <a:ext cx="4420999" cy="1994367"/>
          </a:xfrm>
          <a:prstGeom prst="rect">
            <a:avLst/>
          </a:prstGeom>
          <a:solidFill>
            <a:schemeClr val="accent2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grpSp>
        <p:nvGrpSpPr>
          <p:cNvPr id="2" name="组合 1"/>
          <p:cNvGrpSpPr/>
          <p:nvPr/>
        </p:nvGrpSpPr>
        <p:grpSpPr>
          <a:xfrm>
            <a:off x="1161814" y="1226242"/>
            <a:ext cx="955168" cy="955168"/>
            <a:chOff x="1230014" y="1296938"/>
            <a:chExt cx="1011238" cy="1011238"/>
          </a:xfrm>
        </p:grpSpPr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1230014" y="1296938"/>
              <a:ext cx="1011238" cy="1011238"/>
            </a:xfrm>
            <a:prstGeom prst="ellipse">
              <a:avLst/>
            </a:prstGeom>
            <a:solidFill>
              <a:srgbClr val="0A97A6"/>
            </a:solidFill>
            <a:ln>
              <a:noFill/>
            </a:ln>
          </p:spPr>
          <p:txBody>
            <a:bodyPr vert="horz" wrap="square" lIns="86370" tIns="43185" rIns="86370" bIns="43185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82081" y="1429117"/>
              <a:ext cx="868522" cy="713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780" dirty="0">
                  <a:solidFill>
                    <a:schemeClr val="accent2"/>
                  </a:solidFill>
                  <a:latin typeface="+mn-ea"/>
                  <a:ea typeface="+mn-ea"/>
                </a:rPr>
                <a:t>01</a:t>
              </a:r>
              <a:endParaRPr lang="zh-CN" altLang="en-US" sz="3780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359476" y="995580"/>
            <a:ext cx="2788630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65" b="1" dirty="0">
                <a:solidFill>
                  <a:schemeClr val="accent1"/>
                </a:solidFill>
                <a:latin typeface="+mn-ea"/>
                <a:ea typeface="+mn-ea"/>
              </a:rPr>
              <a:t>多模态感知</a:t>
            </a:r>
            <a:endParaRPr lang="zh-CN" altLang="en-US" sz="2265" b="1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4115" y="1505903"/>
            <a:ext cx="2773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LiDAR + RGB</a:t>
            </a:r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摄像头融合，获取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360</a:t>
            </a:r>
            <a:r>
              <a:rPr lang="" altLang="en-US" dirty="0">
                <a:solidFill>
                  <a:schemeClr val="accent1"/>
                </a:solidFill>
                <a:latin typeface="+mn-ea"/>
                <a:ea typeface="+mn-ea"/>
              </a:rPr>
              <a:t>°</a:t>
            </a:r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环境信息</a:t>
            </a:r>
            <a:endParaRPr lang="zh-CN" altLang="en-US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11970" y="1226242"/>
            <a:ext cx="955168" cy="955168"/>
            <a:chOff x="6470754" y="1296938"/>
            <a:chExt cx="1011238" cy="1011238"/>
          </a:xfrm>
        </p:grpSpPr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6470754" y="1296938"/>
              <a:ext cx="1011238" cy="1011238"/>
            </a:xfrm>
            <a:prstGeom prst="ellipse">
              <a:avLst/>
            </a:prstGeom>
            <a:solidFill>
              <a:srgbClr val="D53E25"/>
            </a:solidFill>
            <a:ln>
              <a:noFill/>
            </a:ln>
          </p:spPr>
          <p:txBody>
            <a:bodyPr vert="horz" wrap="square" lIns="86370" tIns="43185" rIns="86370" bIns="43185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22821" y="1429117"/>
              <a:ext cx="868522" cy="713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780" dirty="0">
                  <a:solidFill>
                    <a:schemeClr val="accent2"/>
                  </a:solidFill>
                  <a:latin typeface="+mn-ea"/>
                  <a:ea typeface="+mn-ea"/>
                </a:rPr>
                <a:t>02</a:t>
              </a:r>
              <a:endParaRPr lang="zh-CN" altLang="en-US" sz="3780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309632" y="995580"/>
            <a:ext cx="2463519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65" b="1" dirty="0">
                <a:solidFill>
                  <a:schemeClr val="accent1"/>
                </a:solidFill>
                <a:latin typeface="+mn-ea"/>
                <a:ea typeface="+mn-ea"/>
              </a:rPr>
              <a:t>风险场建模</a:t>
            </a:r>
            <a:endParaRPr lang="zh-CN" altLang="en-US" sz="2265" b="1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24271" y="1505903"/>
            <a:ext cx="277399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构建结构化空间风险表示</a:t>
            </a:r>
            <a:endParaRPr lang="zh-CN" altLang="en-US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61814" y="4264783"/>
            <a:ext cx="955168" cy="955168"/>
            <a:chOff x="1230014" y="4513848"/>
            <a:chExt cx="1011238" cy="1011238"/>
          </a:xfrm>
        </p:grpSpPr>
        <p:sp>
          <p:nvSpPr>
            <p:cNvPr id="24" name="Oval 13"/>
            <p:cNvSpPr>
              <a:spLocks noChangeArrowheads="1"/>
            </p:cNvSpPr>
            <p:nvPr/>
          </p:nvSpPr>
          <p:spPr bwMode="auto">
            <a:xfrm>
              <a:off x="1230014" y="4513848"/>
              <a:ext cx="1011238" cy="1011238"/>
            </a:xfrm>
            <a:prstGeom prst="ellipse">
              <a:avLst/>
            </a:prstGeom>
            <a:solidFill>
              <a:srgbClr val="ECA11A"/>
            </a:solidFill>
            <a:ln>
              <a:noFill/>
            </a:ln>
          </p:spPr>
          <p:txBody>
            <a:bodyPr vert="horz" wrap="square" lIns="86370" tIns="43185" rIns="86370" bIns="43185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82081" y="4646027"/>
              <a:ext cx="868522" cy="713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780" dirty="0">
                  <a:solidFill>
                    <a:schemeClr val="accent2"/>
                  </a:solidFill>
                  <a:latin typeface="+mn-ea"/>
                  <a:ea typeface="+mn-ea"/>
                </a:rPr>
                <a:t>03</a:t>
              </a:r>
              <a:endParaRPr lang="zh-CN" altLang="en-US" sz="3780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359476" y="4034122"/>
            <a:ext cx="2788630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65" b="1" dirty="0">
                <a:solidFill>
                  <a:schemeClr val="accent1"/>
                </a:solidFill>
                <a:latin typeface="+mn-ea"/>
                <a:ea typeface="+mn-ea"/>
              </a:rPr>
              <a:t>触觉编码映射</a:t>
            </a:r>
            <a:endParaRPr lang="zh-CN" altLang="en-US" sz="2265" b="1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74115" y="4544444"/>
            <a:ext cx="2773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将高维风险信息压缩为振动模式</a:t>
            </a:r>
            <a:endParaRPr lang="zh-CN" altLang="en-US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11970" y="4264783"/>
            <a:ext cx="955168" cy="955168"/>
            <a:chOff x="6470754" y="4513848"/>
            <a:chExt cx="1011238" cy="1011238"/>
          </a:xfrm>
        </p:grpSpPr>
        <p:sp>
          <p:nvSpPr>
            <p:cNvPr id="29" name="Oval 13"/>
            <p:cNvSpPr>
              <a:spLocks noChangeArrowheads="1"/>
            </p:cNvSpPr>
            <p:nvPr/>
          </p:nvSpPr>
          <p:spPr bwMode="auto">
            <a:xfrm>
              <a:off x="6470754" y="4513848"/>
              <a:ext cx="1011238" cy="1011238"/>
            </a:xfrm>
            <a:prstGeom prst="ellipse">
              <a:avLst/>
            </a:prstGeom>
            <a:solidFill>
              <a:srgbClr val="2C99C0"/>
            </a:solidFill>
            <a:ln>
              <a:noFill/>
            </a:ln>
          </p:spPr>
          <p:txBody>
            <a:bodyPr vert="horz" wrap="square" lIns="86370" tIns="43185" rIns="86370" bIns="43185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522821" y="4646027"/>
              <a:ext cx="868522" cy="713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780" dirty="0">
                  <a:solidFill>
                    <a:schemeClr val="accent2"/>
                  </a:solidFill>
                  <a:latin typeface="+mn-ea"/>
                  <a:ea typeface="+mn-ea"/>
                </a:rPr>
                <a:t>04</a:t>
              </a:r>
              <a:endParaRPr lang="zh-CN" altLang="en-US" sz="3780" dirty="0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7309632" y="4034122"/>
            <a:ext cx="2788630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65" b="1" dirty="0">
                <a:solidFill>
                  <a:schemeClr val="accent1"/>
                </a:solidFill>
                <a:latin typeface="+mn-ea"/>
                <a:ea typeface="+mn-ea"/>
              </a:rPr>
              <a:t>自适应反馈</a:t>
            </a:r>
            <a:endParaRPr lang="zh-CN" altLang="en-US" sz="2265" b="1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24271" y="4544444"/>
            <a:ext cx="277399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+mn-ea"/>
                <a:ea typeface="+mn-ea"/>
              </a:rPr>
              <a:t>根据用户行为动态调整编码参数</a:t>
            </a:r>
            <a:endParaRPr lang="zh-CN" altLang="en-US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1" y="2900010"/>
            <a:ext cx="11520488" cy="816184"/>
          </a:xfrm>
          <a:prstGeom prst="rect">
            <a:avLst/>
          </a:prstGeom>
          <a:solidFill>
            <a:srgbClr val="0A97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34" name="TextBox 33"/>
          <p:cNvSpPr txBox="1"/>
          <p:nvPr/>
        </p:nvSpPr>
        <p:spPr>
          <a:xfrm>
            <a:off x="4122299" y="3073533"/>
            <a:ext cx="2512226" cy="557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025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标题内容文字</a:t>
            </a:r>
            <a:endParaRPr lang="zh-CN" altLang="en-US" sz="3025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59130" y="234315"/>
            <a:ext cx="6454140" cy="55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系统功能：从感知到反馈的完整链路</a:t>
            </a:r>
            <a:endParaRPr lang="zh-CN" altLang="en-US" sz="302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5"/>
          <p:cNvSpPr/>
          <p:nvPr/>
        </p:nvSpPr>
        <p:spPr bwMode="auto">
          <a:xfrm>
            <a:off x="254737" y="254367"/>
            <a:ext cx="248151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8" name="Freeform 6"/>
          <p:cNvSpPr/>
          <p:nvPr/>
        </p:nvSpPr>
        <p:spPr bwMode="auto">
          <a:xfrm>
            <a:off x="417060" y="418559"/>
            <a:ext cx="248151" cy="253749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23" name="Freeform 7"/>
          <p:cNvSpPr/>
          <p:nvPr/>
        </p:nvSpPr>
        <p:spPr bwMode="auto">
          <a:xfrm>
            <a:off x="251005" y="590212"/>
            <a:ext cx="246285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Administrator\Desktop\ty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27" y="-732"/>
            <a:ext cx="11514435" cy="6479692"/>
          </a:xfrm>
          <a:prstGeom prst="rect">
            <a:avLst/>
          </a:prstGeom>
          <a:noFill/>
        </p:spPr>
      </p:pic>
      <p:sp>
        <p:nvSpPr>
          <p:cNvPr id="13" name="TextBox 48"/>
          <p:cNvSpPr txBox="1"/>
          <p:nvPr/>
        </p:nvSpPr>
        <p:spPr>
          <a:xfrm>
            <a:off x="5002966" y="2319337"/>
            <a:ext cx="3546396" cy="601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FontTx/>
              <a:buNone/>
            </a:pP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总体设计</a:t>
            </a: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</a:t>
            </a:r>
            <a:endParaRPr lang="zh-CN" altLang="en-US" sz="3905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2918587" y="1749140"/>
            <a:ext cx="1966815" cy="1981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2340" cap="all" spc="268" dirty="0">
                <a:solidFill>
                  <a:srgbClr val="2C99C0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z="12340" cap="all" spc="268" dirty="0">
              <a:solidFill>
                <a:srgbClr val="2C99C0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59092" y="307199"/>
            <a:ext cx="5645275" cy="55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系统总体设计：三阶段信息流</a:t>
            </a:r>
            <a:endParaRPr lang="zh-CN" altLang="en-US" sz="302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54737" y="254367"/>
            <a:ext cx="248151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417060" y="418559"/>
            <a:ext cx="248151" cy="253749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251005" y="590212"/>
            <a:ext cx="246285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"/>
            </p:custDataLst>
          </p:nvPr>
        </p:nvSpPr>
        <p:spPr bwMode="auto">
          <a:xfrm>
            <a:off x="1339245" y="1318882"/>
            <a:ext cx="755620" cy="755620"/>
          </a:xfrm>
          <a:prstGeom prst="ellipse">
            <a:avLst/>
          </a:prstGeom>
          <a:solidFill>
            <a:srgbClr val="D53E2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1390610" y="1420517"/>
            <a:ext cx="662361" cy="557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25" b="1" dirty="0">
                <a:solidFill>
                  <a:schemeClr val="accent2"/>
                </a:solidFill>
                <a:latin typeface="+mj-ea"/>
                <a:ea typeface="+mj-ea"/>
              </a:rPr>
              <a:t>01</a:t>
            </a:r>
            <a:endParaRPr lang="zh-CN" altLang="en-US" sz="302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 bwMode="auto">
          <a:xfrm>
            <a:off x="1339245" y="3147847"/>
            <a:ext cx="755620" cy="755620"/>
          </a:xfrm>
          <a:prstGeom prst="ellipse">
            <a:avLst/>
          </a:prstGeom>
          <a:solidFill>
            <a:srgbClr val="0A97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390610" y="3249481"/>
            <a:ext cx="662361" cy="557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25" b="1" dirty="0">
                <a:solidFill>
                  <a:schemeClr val="accent2"/>
                </a:solidFill>
                <a:latin typeface="+mj-ea"/>
                <a:ea typeface="+mj-ea"/>
              </a:rPr>
              <a:t>02</a:t>
            </a:r>
            <a:endParaRPr lang="zh-CN" altLang="en-US" sz="302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椭圆 12"/>
          <p:cNvSpPr/>
          <p:nvPr>
            <p:custDataLst>
              <p:tags r:id="rId5"/>
            </p:custDataLst>
          </p:nvPr>
        </p:nvSpPr>
        <p:spPr bwMode="auto">
          <a:xfrm>
            <a:off x="1339245" y="5026832"/>
            <a:ext cx="755620" cy="755620"/>
          </a:xfrm>
          <a:prstGeom prst="ellipse">
            <a:avLst/>
          </a:prstGeom>
          <a:solidFill>
            <a:srgbClr val="2C99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6370" tIns="43185" rIns="86370" bIns="43185" numCol="1" rtlCol="0" anchor="t" anchorCtr="0" compatLnSpc="1"/>
          <a:lstStyle/>
          <a:p>
            <a:pPr defTabSz="863600"/>
            <a:endParaRPr lang="zh-CN" altLang="en-US" sz="1700"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1390610" y="5128467"/>
            <a:ext cx="662361" cy="557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25" b="1" dirty="0">
                <a:solidFill>
                  <a:schemeClr val="accent2"/>
                </a:solidFill>
                <a:latin typeface="+mj-ea"/>
                <a:ea typeface="+mj-ea"/>
              </a:rPr>
              <a:t>03</a:t>
            </a:r>
            <a:endParaRPr lang="zh-CN" altLang="en-US" sz="302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 bwMode="auto">
          <a:xfrm>
            <a:off x="1723163" y="3911155"/>
            <a:ext cx="0" cy="108055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2223445" y="1461156"/>
            <a:ext cx="8213209" cy="323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en-US" altLang="zh-CN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LiDAR + RGB</a:t>
            </a:r>
            <a:r>
              <a:rPr lang="zh-CN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摄像头</a:t>
            </a:r>
            <a:r>
              <a:rPr lang="en-US" altLang="zh-CN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环境建模</a:t>
            </a:r>
            <a:endParaRPr lang="zh-CN" altLang="en-US" sz="151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2223445" y="3045982"/>
            <a:ext cx="1955795" cy="4108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208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处理层</a:t>
            </a:r>
            <a:endParaRPr lang="zh-CN" altLang="en-US" sz="208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2223445" y="5228079"/>
            <a:ext cx="8213209" cy="323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信息论触觉编码</a:t>
            </a:r>
            <a:r>
              <a:rPr lang="en-US" altLang="zh-CN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振动阵列输出</a:t>
            </a:r>
            <a:endParaRPr lang="zh-CN" altLang="en-US" sz="151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1"/>
            </p:custDataLst>
          </p:nvPr>
        </p:nvCxnSpPr>
        <p:spPr bwMode="auto">
          <a:xfrm>
            <a:off x="1723163" y="2079517"/>
            <a:ext cx="0" cy="108055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2223446" y="1063595"/>
            <a:ext cx="2272595" cy="4108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208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感知层</a:t>
            </a:r>
            <a:endParaRPr lang="zh-CN" altLang="en-US" sz="208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2223445" y="3488218"/>
            <a:ext cx="8213209" cy="3232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构建空间风险场</a:t>
            </a:r>
            <a:r>
              <a:rPr lang="en-US" altLang="zh-CN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sz="151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时序预测</a:t>
            </a:r>
            <a:endParaRPr lang="zh-CN" altLang="en-US" sz="151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>
            <p:custDataLst>
              <p:tags r:id="rId14"/>
            </p:custDataLst>
          </p:nvPr>
        </p:nvSpPr>
        <p:spPr>
          <a:xfrm>
            <a:off x="2223445" y="4788214"/>
            <a:ext cx="1955795" cy="4108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eaLnBrk="0" hangingPunct="0"/>
            <a:r>
              <a:rPr lang="zh-CN" altLang="en-US" sz="208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输出层</a:t>
            </a:r>
            <a:endParaRPr lang="zh-CN" altLang="en-US" sz="208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48375" y="5410835"/>
            <a:ext cx="5447030" cy="570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设计原则：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实时性、可解释性、稳定性、用户友好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59092" y="307199"/>
            <a:ext cx="5645275" cy="55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系统三大模块</a:t>
            </a:r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302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54737" y="254367"/>
            <a:ext cx="248151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417060" y="418559"/>
            <a:ext cx="248151" cy="253749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251005" y="590212"/>
            <a:ext cx="246285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8" name="Oval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59872" y="1589709"/>
            <a:ext cx="1487211" cy="1477562"/>
          </a:xfrm>
          <a:prstGeom prst="ellipse">
            <a:avLst/>
          </a:prstGeom>
          <a:solidFill>
            <a:srgbClr val="2C99C0"/>
          </a:solidFill>
          <a:ln w="38100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9" name="Oval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692707" y="2977079"/>
            <a:ext cx="1487211" cy="1477562"/>
          </a:xfrm>
          <a:prstGeom prst="ellipse">
            <a:avLst/>
          </a:prstGeom>
          <a:solidFill>
            <a:srgbClr val="D53E25"/>
          </a:solidFill>
          <a:ln w="38100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0" name="Oval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59872" y="4362238"/>
            <a:ext cx="1487211" cy="1477562"/>
          </a:xfrm>
          <a:prstGeom prst="ellipse">
            <a:avLst/>
          </a:prstGeom>
          <a:solidFill>
            <a:srgbClr val="ECA11A"/>
          </a:solidFill>
          <a:ln w="38100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1" name="Freeform 10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5633760" y="2164699"/>
            <a:ext cx="345183" cy="342971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4272700" y="3523354"/>
            <a:ext cx="345183" cy="342971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3" name="Freeform 12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5633760" y="4946129"/>
            <a:ext cx="345183" cy="342971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 flipH="1">
            <a:off x="4283284" y="1892424"/>
            <a:ext cx="1054839" cy="877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100" dirty="0">
                <a:solidFill>
                  <a:schemeClr val="accent2"/>
                </a:solidFill>
                <a:latin typeface="+mn-ea"/>
                <a:ea typeface="+mn-ea"/>
              </a:rPr>
              <a:t>01</a:t>
            </a:r>
            <a:endParaRPr lang="en-US" altLang="zh-CN" sz="51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 flipH="1">
            <a:off x="4924104" y="3279794"/>
            <a:ext cx="1054839" cy="877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100" dirty="0">
                <a:solidFill>
                  <a:schemeClr val="accent2"/>
                </a:solidFill>
                <a:latin typeface="+mn-ea"/>
                <a:ea typeface="+mn-ea"/>
              </a:rPr>
              <a:t>02</a:t>
            </a:r>
            <a:endParaRPr lang="en-US" altLang="zh-CN" sz="51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 flipH="1">
            <a:off x="4295078" y="4681548"/>
            <a:ext cx="1054839" cy="877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100" dirty="0">
                <a:solidFill>
                  <a:schemeClr val="accent2"/>
                </a:solidFill>
                <a:latin typeface="+mn-ea"/>
                <a:ea typeface="+mn-ea"/>
              </a:rPr>
              <a:t>03</a:t>
            </a:r>
            <a:endParaRPr lang="en-US" altLang="zh-CN" sz="51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6179352" y="2015811"/>
            <a:ext cx="454601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</a:rPr>
              <a:t>LiDAR</a:t>
            </a: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：提供精确几何信息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just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</a:rPr>
              <a:t>RGB</a:t>
            </a: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摄像头：提供语义信息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融合方式：坐标对齐</a:t>
            </a:r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</a:rPr>
              <a:t> + </a:t>
            </a: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语义标注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输出：结构化环境模型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6186480" y="1539110"/>
            <a:ext cx="2489200" cy="44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265" b="1" dirty="0">
                <a:solidFill>
                  <a:schemeClr val="accent1"/>
                </a:solidFill>
                <a:latin typeface="+mj-ea"/>
                <a:ea typeface="+mj-ea"/>
              </a:rPr>
              <a:t>多模态感知与融合</a:t>
            </a:r>
            <a:endParaRPr lang="zh-CN" altLang="en-US" sz="2265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669128" y="3500481"/>
            <a:ext cx="339074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风险场定义：连续标量函数，表示各方向危险程度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风险函数构建：距离衰减、速度权重、类别权重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时序预测：短时风险场变化预测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13"/>
            </p:custDataLst>
          </p:nvPr>
        </p:nvSpPr>
        <p:spPr>
          <a:xfrm>
            <a:off x="669128" y="3023780"/>
            <a:ext cx="2200910" cy="44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265" b="1" dirty="0">
                <a:solidFill>
                  <a:schemeClr val="accent1"/>
                </a:solidFill>
                <a:latin typeface="+mj-ea"/>
                <a:ea typeface="+mj-ea"/>
              </a:rPr>
              <a:t>空间风险场建模</a:t>
            </a:r>
            <a:endParaRPr lang="zh-CN" altLang="en-US" sz="2265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6179352" y="4931342"/>
            <a:ext cx="454601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触觉信道建模：带宽有限、噪声存在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just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通过马达位置、风险大小、危险等级、变化趋势</a:t>
            </a: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</a:rPr>
              <a:t>实现最大化互信息，保留关键风险信息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>
            <a:off x="6186480" y="4454642"/>
            <a:ext cx="2777490" cy="44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265" b="1" dirty="0">
                <a:solidFill>
                  <a:schemeClr val="accent1"/>
                </a:solidFill>
                <a:latin typeface="+mj-ea"/>
                <a:ea typeface="+mj-ea"/>
              </a:rPr>
              <a:t>信息论触觉编码设计</a:t>
            </a:r>
            <a:endParaRPr lang="zh-CN" altLang="en-US" sz="2265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Administrator\Desktop\ty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27" y="-732"/>
            <a:ext cx="11514435" cy="6479692"/>
          </a:xfrm>
          <a:prstGeom prst="rect">
            <a:avLst/>
          </a:prstGeom>
          <a:noFill/>
        </p:spPr>
      </p:pic>
      <p:sp>
        <p:nvSpPr>
          <p:cNvPr id="13" name="TextBox 48"/>
          <p:cNvSpPr txBox="1"/>
          <p:nvPr/>
        </p:nvSpPr>
        <p:spPr>
          <a:xfrm>
            <a:off x="5002966" y="2319337"/>
            <a:ext cx="3546396" cy="6013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buFontTx/>
              <a:buNone/>
            </a:pP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系统创新</a:t>
            </a:r>
            <a:r>
              <a:rPr lang="zh-CN" altLang="en-US" sz="3905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</a:t>
            </a:r>
            <a:endParaRPr lang="zh-CN" altLang="en-US" sz="3905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2918587" y="1749140"/>
            <a:ext cx="1966815" cy="1981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1881" tIns="40941" rIns="81881" bIns="4094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altLang="zh-CN" sz="12340" cap="all" spc="268" dirty="0">
                <a:solidFill>
                  <a:srgbClr val="2C99C0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z="12340" cap="all" spc="268" dirty="0">
              <a:solidFill>
                <a:srgbClr val="2C99C0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59130" y="307340"/>
            <a:ext cx="6869430" cy="55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302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创新点：理论、编码与系统三方面突破</a:t>
            </a:r>
            <a:endParaRPr lang="zh-CN" altLang="en-US" sz="302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54737" y="254367"/>
            <a:ext cx="248151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417060" y="418559"/>
            <a:ext cx="248151" cy="253749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251005" y="590212"/>
            <a:ext cx="246285" cy="251884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8" name="Oval 6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5791868" y="3852377"/>
            <a:ext cx="1356676" cy="1360156"/>
          </a:xfrm>
          <a:prstGeom prst="ellipse">
            <a:avLst/>
          </a:prstGeom>
          <a:solidFill>
            <a:srgbClr val="D53E25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9" name="Oval 7"/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7677333" y="2559933"/>
            <a:ext cx="1358417" cy="1360156"/>
          </a:xfrm>
          <a:prstGeom prst="ellipse">
            <a:avLst/>
          </a:prstGeom>
          <a:solidFill>
            <a:srgbClr val="2C99C0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0" name="Oval 8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9502980" y="1267793"/>
            <a:ext cx="1358417" cy="1360156"/>
          </a:xfrm>
          <a:prstGeom prst="ellipse">
            <a:avLst/>
          </a:prstGeom>
          <a:solidFill>
            <a:srgbClr val="0A97A6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4"/>
            </p:custDataLst>
          </p:nvPr>
        </p:nvSpPr>
        <p:spPr bwMode="auto">
          <a:xfrm>
            <a:off x="5352152" y="2680440"/>
            <a:ext cx="6219265" cy="3798520"/>
          </a:xfrm>
          <a:custGeom>
            <a:avLst/>
            <a:gdLst/>
            <a:ahLst/>
            <a:cxnLst/>
            <a:rect l="l" t="t" r="r" b="b"/>
            <a:pathLst>
              <a:path w="5358466" h="3767155">
                <a:moveTo>
                  <a:pt x="3479568" y="0"/>
                </a:moveTo>
                <a:lnTo>
                  <a:pt x="3618115" y="0"/>
                </a:lnTo>
                <a:lnTo>
                  <a:pt x="5358466" y="0"/>
                </a:lnTo>
                <a:lnTo>
                  <a:pt x="5358466" y="138769"/>
                </a:lnTo>
                <a:lnTo>
                  <a:pt x="3618115" y="138769"/>
                </a:lnTo>
                <a:lnTo>
                  <a:pt x="3618115" y="1287028"/>
                </a:lnTo>
                <a:lnTo>
                  <a:pt x="3618115" y="1425797"/>
                </a:lnTo>
                <a:lnTo>
                  <a:pt x="3479568" y="1425797"/>
                </a:lnTo>
                <a:lnTo>
                  <a:pt x="1878331" y="1425797"/>
                </a:lnTo>
                <a:lnTo>
                  <a:pt x="1878331" y="2574055"/>
                </a:lnTo>
                <a:lnTo>
                  <a:pt x="1878331" y="2712824"/>
                </a:lnTo>
                <a:lnTo>
                  <a:pt x="1739784" y="2712824"/>
                </a:lnTo>
                <a:lnTo>
                  <a:pt x="138547" y="2712824"/>
                </a:lnTo>
                <a:lnTo>
                  <a:pt x="138547" y="3767155"/>
                </a:lnTo>
                <a:lnTo>
                  <a:pt x="0" y="3767155"/>
                </a:lnTo>
                <a:lnTo>
                  <a:pt x="0" y="2712824"/>
                </a:lnTo>
                <a:lnTo>
                  <a:pt x="0" y="2574055"/>
                </a:lnTo>
                <a:lnTo>
                  <a:pt x="138547" y="2574055"/>
                </a:lnTo>
                <a:lnTo>
                  <a:pt x="1739784" y="2574055"/>
                </a:lnTo>
                <a:lnTo>
                  <a:pt x="1739784" y="1425797"/>
                </a:lnTo>
                <a:lnTo>
                  <a:pt x="1739784" y="1287028"/>
                </a:lnTo>
                <a:lnTo>
                  <a:pt x="1878331" y="1287028"/>
                </a:lnTo>
                <a:lnTo>
                  <a:pt x="3479568" y="1287028"/>
                </a:lnTo>
                <a:lnTo>
                  <a:pt x="3479568" y="1387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4535967" y="4528633"/>
            <a:ext cx="1053090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3" name="Line 11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5589056" y="3240011"/>
            <a:ext cx="1939585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4" name="Line 12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6470205" y="1947871"/>
            <a:ext cx="2894851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86370" tIns="43185" rIns="86370" bIns="43185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9502775" y="1555115"/>
            <a:ext cx="1358900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65" b="1" dirty="0">
                <a:solidFill>
                  <a:schemeClr val="accent2"/>
                </a:solidFill>
                <a:latin typeface="+mj-ea"/>
                <a:ea typeface="+mj-ea"/>
              </a:rPr>
              <a:t>系统创新</a:t>
            </a:r>
            <a:endParaRPr lang="zh-CN" altLang="en-US" sz="2265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7560310" y="2880360"/>
            <a:ext cx="1475740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265" b="1" dirty="0"/>
              <a:t>编码创新</a:t>
            </a:r>
            <a:endParaRPr lang="zh-CN" altLang="en-US" sz="2265" b="1" dirty="0"/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5690462" y="4187238"/>
            <a:ext cx="1559487" cy="44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2265" b="1" dirty="0"/>
              <a:t>理论创新</a:t>
            </a:r>
            <a:endParaRPr lang="zh-CN" altLang="en-US" sz="2265" b="1" dirty="0"/>
          </a:p>
        </p:txBody>
      </p:sp>
      <p:sp>
        <p:nvSpPr>
          <p:cNvPr id="18" name="矩形 17"/>
          <p:cNvSpPr/>
          <p:nvPr/>
        </p:nvSpPr>
        <p:spPr>
          <a:xfrm>
            <a:off x="1135199" y="4253185"/>
            <a:ext cx="3196720" cy="64516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首次统一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风险场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触觉信道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07564" y="2948761"/>
            <a:ext cx="4216953" cy="3683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基于互信息最大化的触觉编码优化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43735" y="1764030"/>
            <a:ext cx="4217670" cy="3683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风险预测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用户自适应反馈机制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tyu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27" y="-732"/>
            <a:ext cx="11514435" cy="6479692"/>
          </a:xfrm>
          <a:prstGeom prst="rect">
            <a:avLst/>
          </a:prstGeom>
          <a:noFill/>
        </p:spPr>
      </p:pic>
      <p:sp>
        <p:nvSpPr>
          <p:cNvPr id="18" name="矩形 259"/>
          <p:cNvSpPr>
            <a:spLocks noChangeArrowheads="1"/>
          </p:cNvSpPr>
          <p:nvPr/>
        </p:nvSpPr>
        <p:spPr bwMode="auto">
          <a:xfrm>
            <a:off x="2364977" y="2499872"/>
            <a:ext cx="7021634" cy="775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5035" b="1" cap="all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感谢您的聆听</a:t>
            </a:r>
            <a:endParaRPr lang="zh-CN" altLang="en-US" sz="5035" b="1" cap="all" dirty="0">
              <a:solidFill>
                <a:prstClr val="black">
                  <a:lumMod val="65000"/>
                  <a:lumOff val="3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9" name="矩形 259"/>
          <p:cNvSpPr>
            <a:spLocks noChangeArrowheads="1"/>
          </p:cNvSpPr>
          <p:nvPr/>
        </p:nvSpPr>
        <p:spPr bwMode="auto">
          <a:xfrm>
            <a:off x="2496514" y="3206913"/>
            <a:ext cx="6771607" cy="28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  <a:buNone/>
            </a:pPr>
            <a:r>
              <a:rPr lang="en-US" altLang="zh-CN" sz="1385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HARBIN ENGINEERING UNIVERSITY</a:t>
            </a:r>
            <a:endParaRPr lang="zh-CN" altLang="en-US" sz="1385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59"/>
          <p:cNvSpPr>
            <a:spLocks noChangeArrowheads="1"/>
          </p:cNvSpPr>
          <p:nvPr/>
        </p:nvSpPr>
        <p:spPr bwMode="auto">
          <a:xfrm>
            <a:off x="2364977" y="3823523"/>
            <a:ext cx="7021634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 </a:t>
            </a:r>
            <a:r>
              <a:rPr lang="en-US" altLang="zh-CN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2025</a:t>
            </a:r>
            <a:r>
              <a:rPr lang="zh-CN" altLang="en-US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年</a:t>
            </a:r>
            <a:r>
              <a:rPr lang="en-US" altLang="zh-CN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12</a:t>
            </a:r>
            <a:r>
              <a:rPr lang="zh-CN" altLang="en-US" sz="1510" dirty="0">
                <a:solidFill>
                  <a:prstClr val="black">
                    <a:lumMod val="65000"/>
                    <a:lumOff val="35000"/>
                  </a:prstClr>
                </a:solidFill>
                <a:cs typeface="Arial" panose="020B0604020202020204" pitchFamily="34" charset="0"/>
              </a:rPr>
              <a:t>月</a:t>
            </a:r>
            <a:endParaRPr lang="zh-CN" altLang="en-US" sz="1510" dirty="0">
              <a:solidFill>
                <a:prstClr val="black">
                  <a:lumMod val="65000"/>
                  <a:lumOff val="35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783" y="1025179"/>
            <a:ext cx="4104399" cy="1231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2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3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4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5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6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7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8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9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10.xml><?xml version="1.0" encoding="utf-8"?>
<p:tagLst xmlns:p="http://schemas.openxmlformats.org/presentationml/2006/main">
  <p:tag name="KSO_WM_DIAGRAM_VIRTUALLY_FRAME" val="{&quot;height&quot;:298.3514173228346,&quot;left&quot;:7.874015748031496e-05,&quot;top&quot;:162.18196850393701,&quot;width&quot;:907.1250393700788}"/>
</p:tagLst>
</file>

<file path=ppt/tags/tag11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2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3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4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5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6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7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8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19.xml><?xml version="1.0" encoding="utf-8"?>
<p:tagLst xmlns:p="http://schemas.openxmlformats.org/presentationml/2006/main">
  <p:tag name="KSO_WM_DIAGRAM_VIRTUALLY_FRAME" val="{&quot;height&quot;:392.6746456692913,&quot;left&quot;:111.45,&quot;top&quot;:100.2815748031496,&quot;width&quot;:684.8670866141733}"/>
</p:tagLst>
</file>

<file path=ppt/tags/tag20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1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2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3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4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5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6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7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8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29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30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31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32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33.xml><?xml version="1.0" encoding="utf-8"?>
<p:tagLst xmlns:p="http://schemas.openxmlformats.org/presentationml/2006/main">
  <p:tag name="KSO_WM_DIAGRAM_VIRTUALLY_FRAME" val="{&quot;height&quot;:371.56354330708666,&quot;left&quot;:105.45236220472441,&quot;top&quot;:83.7476377952756,&quot;width&quot;:716.3314173228347}"/>
</p:tagLst>
</file>

<file path=ppt/tags/tag34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35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36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37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38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39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0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1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2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3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4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5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6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7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8.xml><?xml version="1.0" encoding="utf-8"?>
<p:tagLst xmlns:p="http://schemas.openxmlformats.org/presentationml/2006/main">
  <p:tag name="KSO_WM_DIAGRAM_VIRTUALLY_FRAME" val="{&quot;height&quot;:579.6548818897637,&quot;left&quot;:52.687244094488186,&quot;top&quot;:121.18976377952757,&quot;width&quot;:791.8297637795274}"/>
</p:tagLst>
</file>

<file path=ppt/tags/tag49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0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1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2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3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4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5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6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7.xml><?xml version="1.0" encoding="utf-8"?>
<p:tagLst xmlns:p="http://schemas.openxmlformats.org/presentationml/2006/main">
  <p:tag name="KSO_WM_DIAGRAM_VIRTUALLY_FRAME" val="{&quot;height&quot;:410.3281102362204,&quot;left&quot;:421.4292913385827,&quot;top&quot;:99.82622047244095,&quot;width&quot;:489.705905511811}"/>
</p:tagLst>
</file>

<file path=ppt/tags/tag58.xml><?xml version="1.0" encoding="utf-8"?>
<p:tagLst xmlns:p="http://schemas.openxmlformats.org/presentationml/2006/main">
  <p:tag name="ISPRING_ULTRA_SCORM_COURSE_ID" val="F96FFF5B-1D19-49F6-80CE-FB420BFED85D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个人述职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jpeg"/></Relationships>
</file>

<file path=ppt/theme/theme1.xml><?xml version="1.0" encoding="utf-8"?>
<a:theme xmlns:a="http://schemas.openxmlformats.org/drawingml/2006/main" name="清风素材 12sc.taobao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a:spPr>
      <a:bodyPr vert="horz" wrap="square" lIns="91440" tIns="45720" rIns="91440" bIns="45720" numCol="1" anchor="t" anchorCtr="0" compatLnSpc="1"/>
      <a:lstStyle>
        <a:defPPr algn="l"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1261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2C99C0"/>
      </a:accent1>
      <a:accent2>
        <a:srgbClr val="D53E25"/>
      </a:accent2>
      <a:accent3>
        <a:srgbClr val="ECA11A"/>
      </a:accent3>
      <a:accent4>
        <a:srgbClr val="2C99C0"/>
      </a:accent4>
      <a:accent5>
        <a:srgbClr val="D53E25"/>
      </a:accent5>
      <a:accent6>
        <a:srgbClr val="ECA11A"/>
      </a:accent6>
      <a:hlink>
        <a:srgbClr val="FF8119"/>
      </a:hlink>
      <a:folHlink>
        <a:srgbClr val="44B9E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自定义 1261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2C99C0"/>
      </a:accent1>
      <a:accent2>
        <a:srgbClr val="D53E25"/>
      </a:accent2>
      <a:accent3>
        <a:srgbClr val="ECA11A"/>
      </a:accent3>
      <a:accent4>
        <a:srgbClr val="2C99C0"/>
      </a:accent4>
      <a:accent5>
        <a:srgbClr val="D53E25"/>
      </a:accent5>
      <a:accent6>
        <a:srgbClr val="ECA11A"/>
      </a:accent6>
      <a:hlink>
        <a:srgbClr val="FF8119"/>
      </a:hlink>
      <a:folHlink>
        <a:srgbClr val="44B9E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自定义 1261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2C99C0"/>
      </a:accent1>
      <a:accent2>
        <a:srgbClr val="D53E25"/>
      </a:accent2>
      <a:accent3>
        <a:srgbClr val="ECA11A"/>
      </a:accent3>
      <a:accent4>
        <a:srgbClr val="2C99C0"/>
      </a:accent4>
      <a:accent5>
        <a:srgbClr val="D53E25"/>
      </a:accent5>
      <a:accent6>
        <a:srgbClr val="ECA11A"/>
      </a:accent6>
      <a:hlink>
        <a:srgbClr val="FF8119"/>
      </a:hlink>
      <a:folHlink>
        <a:srgbClr val="44B9E8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自定义设计方案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WPS 演示</Application>
  <PresentationFormat>自定义</PresentationFormat>
  <Paragraphs>160</Paragraphs>
  <Slides>13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13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仿宋_GB2312</vt:lpstr>
      <vt:lpstr>仿宋</vt:lpstr>
      <vt:lpstr>Calibri</vt:lpstr>
      <vt:lpstr>Open Sans</vt:lpstr>
      <vt:lpstr>Segoe Print</vt:lpstr>
      <vt:lpstr>冬青黑体简体中文 W3</vt:lpstr>
      <vt:lpstr>黑体</vt:lpstr>
      <vt:lpstr>Arial</vt:lpstr>
      <vt:lpstr>Impact</vt:lpstr>
      <vt:lpstr>方正卡通简体</vt:lpstr>
      <vt:lpstr>Roboto Bold</vt:lpstr>
      <vt:lpstr>Corbel</vt:lpstr>
      <vt:lpstr>Roboto</vt:lpstr>
      <vt:lpstr>Arial Unicode MS</vt:lpstr>
      <vt:lpstr>等线 Light</vt:lpstr>
      <vt:lpstr>Calibri Light</vt:lpstr>
      <vt:lpstr>等线</vt:lpstr>
      <vt:lpstr>Times New Roman</vt:lpstr>
      <vt:lpstr>清风素材 12sc.taobao.com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欲.</cp:lastModifiedBy>
  <cp:revision>1187</cp:revision>
  <dcterms:created xsi:type="dcterms:W3CDTF">2013-01-25T01:44:00Z</dcterms:created>
  <dcterms:modified xsi:type="dcterms:W3CDTF">2025-12-06T12:13:41Z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B8985B35A1504DD3939F9D371A2037E1_12</vt:lpwstr>
  </property>
</Properties>
</file>